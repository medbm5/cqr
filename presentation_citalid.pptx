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cas demande une perte annuelle ; je l'ai traité comme un problème de traçabilité avant</a:t>
            </a:r>
          </a:p>
          <a:p>
            <a:r>
              <a:t>d'en faire un problème de statistique, parce que n'importe qui peut produire un nombre et que</a:t>
            </a:r>
          </a:p>
          <a:p>
            <a:r>
              <a:t>l'enjeu est de pouvoir le défendre ligne à ligne.</a:t>
            </a:r>
          </a:p>
          <a:p>
            <a:r>
              <a:t>Le fil rouge est celui de l'énoncé : chaque chiffre remonte à ses sources, et je terminerai par</a:t>
            </a:r>
          </a:p>
          <a:p>
            <a:r>
              <a:t>la commande qui rejoue l'ensemble.</a:t>
            </a:r>
          </a:p>
          <a:p>
            <a:r>
              <a:t>Je vais passer volontairement du temps sur une erreur que j'ai commise et corrigée — c'est elle</a:t>
            </a:r>
          </a:p>
          <a:p>
            <a:r>
              <a:t>qui structure tout le modèle.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Tout l'exposé tient ici : 45 840 lignes livrées par deux outils, 274 k€ de perte annuelle</a:t>
            </a:r>
          </a:p>
          <a:p>
            <a:r>
              <a:t>moyenne à l'arrivée.</a:t>
            </a:r>
          </a:p>
          <a:p>
            <a:r>
              <a:t>Les quatre premières flèches réduisent le volume — dédoublonnage, filtre de sévérité,</a:t>
            </a:r>
          </a:p>
          <a:p>
            <a:r>
              <a:t>regroupement en épisodes — mais la cinquième est d'une autre nature : c'est un changement</a:t>
            </a:r>
          </a:p>
          <a:p>
            <a:r>
              <a:t>d'unité, et c'est là que se joue la crédibilité du chiffre.</a:t>
            </a:r>
          </a:p>
          <a:p>
            <a:r>
              <a:t>Retenez l'ordre de grandeur, un facteur 150 000 entre les lignes brutes et les incidents à</a:t>
            </a:r>
          </a:p>
          <a:p>
            <a:r>
              <a:t>perte : une chaîne aussi longue ne vaut que si chaque maillon est auditable.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Contrainte que je me suis imposée : risk_engine n'importe jamais Django, et un test parcourt</a:t>
            </a:r>
          </a:p>
          <a:p>
            <a:r>
              <a:t>tous les modules dans un sous-processus pour le prouver, parce qu'une dépendance de ce genre</a:t>
            </a:r>
          </a:p>
          <a:p>
            <a:r>
              <a:t>s'introduit sans qu'on s'en aperçoive.</a:t>
            </a:r>
          </a:p>
          <a:p>
            <a:r>
              <a:t>La conséquence pratique, c'est que le modèle s'utilise dans un notebook, un batch ou un autre</a:t>
            </a:r>
          </a:p>
          <a:p>
            <a:r>
              <a:t>produit, sans traîner un framework web derrière lui.</a:t>
            </a:r>
          </a:p>
          <a:p>
            <a:r>
              <a:t>to_explanation() rend cet exposé possible : chaque objet de résultat sait raconter comment il a</a:t>
            </a:r>
          </a:p>
          <a:p>
            <a:r>
              <a:t>été obtenu, et c'est la même trace que la CLI imprime, que l'API sert et que l'interface</a:t>
            </a:r>
          </a:p>
          <a:p>
            <a:r>
              <a:t>affiche.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piège du jeu de données est ici : les deux flux ne sont pas complémentaires mais</a:t>
            </a:r>
          </a:p>
          <a:p>
            <a:r>
              <a:t>partiellement redondants, avec 12 343 événements portant le même actif, la même technique et le</a:t>
            </a:r>
          </a:p>
          <a:p>
            <a:r>
              <a:t>même horodatage des deux côtés.</a:t>
            </a:r>
          </a:p>
          <a:p>
            <a:r>
              <a:t>Concaténer aurait gonflé toutes les fréquences de 42 %, et l'erreur serait passée inaperçue</a:t>
            </a:r>
          </a:p>
          <a:p>
            <a:r>
              <a:t>parce que le résultat reste plausible.</a:t>
            </a:r>
          </a:p>
          <a:p>
            <a:r>
              <a:t>Sur la règle de fusion : quand les deux outils divergent sur la sévérité je garde la pire — si</a:t>
            </a:r>
          </a:p>
          <a:p>
            <a:r>
              <a:t>l'EDR voit critique là où le SIEM voit medium, c'est qu'il a vu quelque chose de plus proche du</a:t>
            </a:r>
          </a:p>
          <a:p>
            <a:r>
              <a:t>poste, et prendre la moyenne diluerait un signal fort dans un signal faible.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slide justifie deux hypothèses d'un coup : d'abord Poisson, parce que le débit</a:t>
            </a:r>
          </a:p>
          <a:p>
            <a:r>
              <a:t>hebdomadaire est stable sur les sept mois, sans tendance ni rupture, ce qui est la condition</a:t>
            </a:r>
          </a:p>
          <a:p>
            <a:r>
              <a:t>d'un processus à taux constant.</a:t>
            </a:r>
          </a:p>
          <a:p>
            <a:r>
              <a:t>Ensuite l'annualisation — le facteur 1,7217 n'est pas écrit en dur, il vaut 365 divisé par le</a:t>
            </a:r>
          </a:p>
          <a:p>
            <a:r>
              <a:t>nombre de jours réellement observés, donc un export plus long change le résultat tout seul.</a:t>
            </a:r>
          </a:p>
          <a:p>
            <a:r>
              <a:t>Limite assumée : sept mois ne montrent aucune saisonnalité annuelle, et un pic de novembre lié</a:t>
            </a:r>
          </a:p>
          <a:p>
            <a:r>
              <a:t>au Black Friday sur un e-commerçant, je ne peux ni le confirmer ni l'exclure.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intrusion ne produit pas une alerte mais une rafale ; compter les alertes mesurerait le</a:t>
            </a:r>
          </a:p>
          <a:p>
            <a:r>
              <a:t>bavardage des sondes, pas la fréquence des attaques.</a:t>
            </a:r>
          </a:p>
          <a:p>
            <a:r>
              <a:t>Je regroupe donc par actif avec une fenêtre de silence de 24 heures, l'ordre de grandeur d'une</a:t>
            </a:r>
          </a:p>
          <a:p>
            <a:r>
              <a:t>session d'intrusion et d'un cycle de traitement en SOC : c'est une convention, pas une mesure,</a:t>
            </a:r>
          </a:p>
          <a:p>
            <a:r>
              <a:t>et le graphique montre exactement ce qu'elle coûte, de 8 500 épisodes à une heure jusqu'à 911 à</a:t>
            </a:r>
          </a:p>
          <a:p>
            <a:r>
              <a:t>vingt-quatre.</a:t>
            </a:r>
          </a:p>
          <a:p>
            <a:r>
              <a:t>Le regroupement se fait par actif seul et non par actif et type d'attaque, parce qu'un intrus</a:t>
            </a:r>
          </a:p>
          <a:p>
            <a:r>
              <a:t>déclenche les détections qu'il rencontre et que les compter par type reviendrait à recompter la</a:t>
            </a:r>
          </a:p>
          <a:p>
            <a:r>
              <a:t>même intrusion sous plusieurs noms.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 première version multipliait 9 168 attaques par an par un coût moyen d'incident et sortait</a:t>
            </a:r>
          </a:p>
          <a:p>
            <a:r>
              <a:t>12,5 milliards d'euros pour une ETI — un chiffre faux d'un facteur mille, produit par un code</a:t>
            </a:r>
          </a:p>
          <a:p>
            <a:r>
              <a:t>juste.</a:t>
            </a:r>
          </a:p>
          <a:p>
            <a:r>
              <a:t>Ce n'est pas un bug mais une erreur de catégorie : la télémétrie compte des attaques détectées,</a:t>
            </a:r>
          </a:p>
          <a:p>
            <a:r>
              <a:t>la base externe des incidents qui ont coûté de l'argent, et rien n'empêchait de multiplier les</a:t>
            </a:r>
          </a:p>
          <a:p>
            <a:r>
              <a:t>deux.</a:t>
            </a:r>
          </a:p>
          <a:p>
            <a:r>
              <a:t>La correction est une calibration — je fixe p pour que cette entreprise retrouve le taux</a:t>
            </a:r>
          </a:p>
          <a:p>
            <a:r>
              <a:t>d'incidents de 1 310 organisations comparables, pondérées par le même noyau que la sévérité,</a:t>
            </a:r>
          </a:p>
          <a:p>
            <a:r>
              <a:t>soit une détection sur 5 138 qui finit en perte.</a:t>
            </a:r>
          </a:p>
          <a:p>
            <a:r>
              <a:t>Le prix à payer, et je l'assume : la télémétrie ne pilote plus le niveau, seulement le mix par</a:t>
            </a:r>
          </a:p>
          <a:p>
            <a:r>
              <a:t>type, et c'est le premier point de mon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pièges dans la base externe : les pertes à −1 sont des valeurs manquantes et non des</a:t>
            </a:r>
          </a:p>
          <a:p>
            <a:r>
              <a:t>incidents gratuits, et les libellés de secteur arrivaient en double encodage UTF-8, ce qui</a:t>
            </a:r>
          </a:p>
          <a:p>
            <a:r>
              <a:t>séparait Énergie en deux secteurs distincts.</a:t>
            </a:r>
          </a:p>
          <a:p>
            <a:r>
              <a:t>Le vrai choix de modélisation est la pondération douce : un filtre exact sur le profil ne laisse</a:t>
            </a:r>
          </a:p>
          <a:p>
            <a:r>
              <a:t>que 112 incidents sur 1 598, et plus aucun type d'attaque n'a d'échantillon crédible —</a:t>
            </a:r>
          </a:p>
          <a:p>
            <a:r>
              <a:t>mathématiquement propre, pratiquement inutilisable.</a:t>
            </a:r>
          </a:p>
          <a:p>
            <a:r>
              <a:t>Je garde donc tout le monde avec un poids décroissant selon la ressemblance ; le prix de cette</a:t>
            </a:r>
          </a:p>
          <a:p>
            <a:r>
              <a:t>souplesse est un échantillon effectif plus petit que l'échantillon nominal, que je publie type</a:t>
            </a:r>
          </a:p>
          <a:p>
            <a:r>
              <a:t>par type et qui déclenche un repli sur la poolée en dessous de 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Pourquoi une lognormale : une perte ne peut pas être négative, n'a pas de plafond naturel et</a:t>
            </a:r>
          </a:p>
          <a:p>
            <a:r>
              <a:t>s'étale ici sur quatre ordres de grandeur, la signature d'une variable dont le logarithme est à</a:t>
            </a:r>
          </a:p>
          <a:p>
            <a:r>
              <a:t>peu près normal — en passant aux logs, l'asymétrie tombe de 7,4 à 0,8.</a:t>
            </a:r>
          </a:p>
          <a:p>
            <a:r>
              <a:t>Un ajustement par type et non un seul global, parce que la base est un mélange de régimes très</a:t>
            </a:r>
          </a:p>
          <a:p>
            <a:r>
              <a:t>différents qu'une lognormale unique se fait rejeter par Kolmogorov-Smirnov.</a:t>
            </a:r>
          </a:p>
          <a:p>
            <a:r>
              <a:t>Le chiffre à retenir est l'écart entre médiane et moyenne, 183 k€ contre 5,1 M€ : l'incident</a:t>
            </a:r>
          </a:p>
          <a:p>
            <a:r>
              <a:t>typique ne dit rien du coût moyen, et c'est la moyenne qui alimente la perte annuelle.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KS pondéré vaut 0,118 pour un seuil indicatif autour de 0,19 à cet échantillon effectif,</a:t>
            </a:r>
          </a:p>
          <a:p>
            <a:r>
              <a:t>donc l'ajustement n'est pas rejeté — mais un chiffre unique ne dit pas où le modèle se trompe,</a:t>
            </a:r>
          </a:p>
          <a:p>
            <a:r>
              <a:t>d'où le QQ-plot.</a:t>
            </a:r>
          </a:p>
          <a:p>
            <a:r>
              <a:t>Les points suivent la diagonale sur quatre ordres de grandeur et les trois plus extrêmes passent</a:t>
            </a:r>
          </a:p>
          <a:p>
            <a:r>
              <a:t>légèrement en dessous : le modèle prédit un peu plus cher que l'observé, donc la queue est</a:t>
            </a:r>
          </a:p>
          <a:p>
            <a:r>
              <a:t>prudente sur ce type, ce qui est le bon sens de l'erreur pour une mesure de risque.</a:t>
            </a:r>
          </a:p>
          <a:p>
            <a:r>
              <a:t>Je publie aussi la contre-preuve et elle va dans l'autre sens : sur cinq ajustements sur neuf</a:t>
            </a:r>
          </a:p>
          <a:p>
            <a:r>
              <a:t>une loi de Pareto décrit mieux les extrêmes, donc mes VaR 99 et TVaR 99 se lisent comme des</a:t>
            </a:r>
          </a:p>
          <a:p>
            <a:r>
              <a:t>bornes basses.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Pourquoi simuler plutôt qu'une formule fermée : l'espérance d'une loi composée s'écrit</a:t>
            </a:r>
          </a:p>
          <a:p>
            <a:r>
              <a:t>analytiquement, mais la VaR 99 et la TVaR 99 non — il faut la distribution complète, et elle</a:t>
            </a:r>
          </a:p>
          <a:p>
            <a:r>
              <a:t>dépend de la façon dont les deux étages se composent.</a:t>
            </a:r>
          </a:p>
          <a:p>
            <a:r>
              <a:t>Une année n'est pas la fréquence multipliée par le coût moyen : c'est zéro incident trois fois</a:t>
            </a:r>
          </a:p>
          <a:p>
            <a:r>
              <a:t>sur quatre, un parfois, très rarement deux, et la somme de ces cas n'est pas le produit des</a:t>
            </a:r>
          </a:p>
          <a:p>
            <a:r>
              <a:t>moyennes.</a:t>
            </a:r>
          </a:p>
          <a:p>
            <a:r>
              <a:t>Sur le garde-fou : à sigma 2,6 et sur cent mille années, une lognormale non bornée finit par</a:t>
            </a:r>
          </a:p>
          <a:p>
            <a:r>
              <a:t>tirer un incident qui coûte plus que l'entreprise ne vaut — la pire année non plafonnée montait</a:t>
            </a:r>
          </a:p>
          <a:p>
            <a:r>
              <a:t>à 3,8 milliards, donc je plafonne au 99,9e centile des pertes réellement observées chez les</a:t>
            </a:r>
          </a:p>
          <a:p>
            <a:r>
              <a:t>pairs et j'affiche ce que cela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lectures métier, trois chiffres : l'AAL à 274 k€ est la ligne budgétaire, la VaR 95 à</a:t>
            </a:r>
          </a:p>
          <a:p>
            <a:r>
              <a:t>816 k€ l'appétit au risque, la TVaR 99 à 15,1 M€ la question de survie.</a:t>
            </a:r>
          </a:p>
          <a:p>
            <a:r>
              <a:t>Le point contre-intuitif est l'année médiane à zéro euro — trois années sur quatre ne coûtent</a:t>
            </a:r>
          </a:p>
          <a:p>
            <a:r>
              <a:t>rien, parce que le taux d'incidents est de 0,31 par an, et c'est la forme même du risque cyber</a:t>
            </a:r>
          </a:p>
          <a:p>
            <a:r>
              <a:t>pour une ETI : rien, rien, rien, puis un événement qui compte.</a:t>
            </a:r>
          </a:p>
          <a:p>
            <a:r>
              <a:t>Sur les courbes, l'AEP est le total de l'année et l'OEP la plus grosse perte unitaire, leur</a:t>
            </a:r>
          </a:p>
          <a:p>
            <a:r>
              <a:t>écart mesurant la part des années à plusieurs incidents ; le plateau de l'OEP à droite est le</a:t>
            </a:r>
          </a:p>
          <a:p>
            <a:r>
              <a:t>plafond de plausibilité, visible et non dissimulé.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limites ne sont pas des oublis mais des arbitrages, chacun écrit dans le dépôt avec</a:t>
            </a:r>
          </a:p>
          <a:p>
            <a:r>
              <a:t>la raison de ne pas l'avoir traité.</a:t>
            </a:r>
          </a:p>
          <a:p>
            <a:r>
              <a:t>La plus gênante est la première : p_materialize fait correspondre cette entreprise à ses pairs</a:t>
            </a:r>
          </a:p>
          <a:p>
            <a:r>
              <a:t>mais ne sait pas dire pourquoi, si bien qu'améliorer la maturité de 55 à 75 ne bougerait pas la</a:t>
            </a:r>
          </a:p>
          <a:p>
            <a:r>
              <a:t>perte modélisée — le mauvais signal pour un outil censé justifier un budget sécurité.</a:t>
            </a:r>
          </a:p>
          <a:p>
            <a:r>
              <a:t>Ce que je n'ai pas fait faute de données : la régression maturité vers vulnérabilité demande un</a:t>
            </a:r>
          </a:p>
          <a:p>
            <a:r>
              <a:t>dénominateur d'exposition que la base ne contient pas, puisqu'elle recense des incidents et non</a:t>
            </a:r>
          </a:p>
          <a:p>
            <a:r>
              <a:t>des années-organisation à risque, et fabriquer cette courbe aurait donné un coefficient</a:t>
            </a:r>
          </a:p>
          <a:p>
            <a:r>
              <a:t>d'allure confiante sans rien derrière.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 termine où j'ai commencé : chaque chiffre montré aujourd'hui a un chemin explicite depuis</a:t>
            </a:r>
          </a:p>
          <a:p>
            <a:r>
              <a:t>les CSV, le rapport de normalisation rendant compte de chaque ligne lue avant que chaque étage</a:t>
            </a:r>
          </a:p>
          <a:p>
            <a:r>
              <a:t>expose sa propre trace numérotée.</a:t>
            </a:r>
          </a:p>
          <a:p>
            <a:r>
              <a:t>Ces traces ne sont pas de la documentation écrite à côté du code, elles sont produites par le</a:t>
            </a:r>
          </a:p>
          <a:p>
            <a:r>
              <a:t>code à partir des mêmes objets que les calculs, et ne peuvent donc pas diverger du modèle.</a:t>
            </a:r>
          </a:p>
          <a:p>
            <a:r>
              <a:t>Une seule commande rejoue l'ensemble et écrit un JSON contenant les chiffres et les</a:t>
            </a:r>
          </a:p>
          <a:p>
            <a:r>
              <a:t>explications ; avec la graine 42 vous retombez sur mes valeurs à l'euro près.</a:t>
            </a:r>
          </a:p>
          <a:p>
            <a:r>
              <a:t>Si un chiffre vous paraît faux, il y a une ligne de trace à contester plutôt qu'une parole à</a:t>
            </a:r>
          </a:p>
          <a:p>
            <a:r>
              <a:t>croire.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331720"/>
            <a:ext cx="64008" cy="13716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" y="2331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8BDF8"/>
                </a:solidFill>
                <a:latin typeface="Segoe UI"/>
              </a:rPr>
              <a:t>QUANTIFICATION DU RISQUE CYBER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2743200"/>
            <a:ext cx="96012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1F5F9"/>
                </a:solidFill>
                <a:latin typeface="Segoe UI"/>
              </a:rPr>
              <a:t>De la télémétrie brute</a:t>
            </a:r>
          </a:p>
          <a:p>
            <a:pPr algn="l">
              <a:lnSpc>
                <a:spcPct val="105000"/>
              </a:lnSpc>
            </a:pPr>
            <a:r>
              <a:rPr sz="4400" b="1">
                <a:solidFill>
                  <a:srgbClr val="F1F5F9"/>
                </a:solidFill>
                <a:latin typeface="Segoe UI"/>
              </a:rPr>
              <a:t>à une perte annuelle chiffrée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43434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Segoe UI"/>
              </a:rPr>
              <a:t>ETI Retail / e-commerce   ·   1 200 employés   ·   maturité 55/100   ·   ~20 actifs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029200"/>
            <a:ext cx="10637215" cy="9525"/>
          </a:xfrm>
          <a:prstGeom prst="rect">
            <a:avLst/>
          </a:prstGeom>
          <a:solidFill>
            <a:srgbClr val="1B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1F5F9"/>
                </a:solidFill>
                <a:latin typeface="Segoe UI"/>
              </a:rPr>
              <a:t>[Votre nom]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8055" y="52852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7A8AA0"/>
                </a:solidFill>
                <a:latin typeface="Segoe UI"/>
              </a:rPr>
              <a:t>Un chiffre de risque doit toujours pouvoir être tracé et expliqué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8BDF8"/>
                </a:solidFill>
                <a:latin typeface="Segoe UI"/>
              </a:rPr>
              <a:t>LA DÉMARCHE EN UNE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1F5F9"/>
                </a:solidFill>
                <a:latin typeface="Segoe UI"/>
              </a:rPr>
              <a:t>Six étapes, six justifications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1650949" cy="1143000"/>
          </a:xfrm>
          <a:prstGeom prst="roundRect">
            <a:avLst>
              <a:gd name="adj" fmla="val 6000"/>
            </a:avLst>
          </a:prstGeom>
          <a:solidFill>
            <a:srgbClr val="0A1120"/>
          </a:solidFill>
          <a:ln w="9525">
            <a:solidFill>
              <a:srgbClr val="1B2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514600"/>
            <a:ext cx="14314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1F5F9"/>
                </a:solidFill>
                <a:latin typeface="Segoe UI"/>
              </a:rPr>
              <a:t>45 840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90088"/>
            <a:ext cx="146806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7A8AA0"/>
                </a:solidFill>
                <a:latin typeface="Segoe UI"/>
              </a:rPr>
              <a:t>lignes brutes</a:t>
            </a:r>
          </a:p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7A8AA0"/>
                </a:solidFill>
                <a:latin typeface="Segoe UI"/>
              </a:rPr>
              <a:t>SIEM + EDR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446477" y="2839212"/>
            <a:ext cx="109728" cy="128016"/>
          </a:xfrm>
          <a:prstGeom prst="rightArrow">
            <a:avLst/>
          </a:prstGeom>
          <a:solidFill>
            <a:srgbClr val="7A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74493" y="2331720"/>
            <a:ext cx="1650949" cy="1143000"/>
          </a:xfrm>
          <a:prstGeom prst="roundRect">
            <a:avLst>
              <a:gd name="adj" fmla="val 6000"/>
            </a:avLst>
          </a:prstGeom>
          <a:solidFill>
            <a:srgbClr val="0A1120"/>
          </a:solidFill>
          <a:ln w="9525">
            <a:solidFill>
              <a:srgbClr val="1B2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84221" y="2514600"/>
            <a:ext cx="14314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1F5F9"/>
                </a:solidFill>
                <a:latin typeface="Segoe UI"/>
              </a:rPr>
              <a:t>32 193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65933" y="2990088"/>
            <a:ext cx="146806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7A8AA0"/>
                </a:solidFill>
                <a:latin typeface="Segoe UI"/>
              </a:rPr>
              <a:t>événements</a:t>
            </a:r>
          </a:p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7A8AA0"/>
                </a:solidFill>
                <a:latin typeface="Segoe UI"/>
              </a:rPr>
              <a:t>distincts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43730" y="2839212"/>
            <a:ext cx="109728" cy="128016"/>
          </a:xfrm>
          <a:prstGeom prst="rightArrow">
            <a:avLst/>
          </a:prstGeom>
          <a:solidFill>
            <a:srgbClr val="7A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71746" y="2331720"/>
            <a:ext cx="1650949" cy="1143000"/>
          </a:xfrm>
          <a:prstGeom prst="roundRect">
            <a:avLst>
              <a:gd name="adj" fmla="val 6000"/>
            </a:avLst>
          </a:prstGeom>
          <a:solidFill>
            <a:srgbClr val="0A1120"/>
          </a:solidFill>
          <a:ln w="9525">
            <a:solidFill>
              <a:srgbClr val="1B2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1474" y="2514600"/>
            <a:ext cx="14314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1F5F9"/>
                </a:solidFill>
                <a:latin typeface="Segoe UI"/>
              </a:rPr>
              <a:t>10 126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3186" y="2990088"/>
            <a:ext cx="146806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7A8AA0"/>
                </a:solidFill>
                <a:latin typeface="Segoe UI"/>
              </a:rPr>
              <a:t>événements</a:t>
            </a:r>
          </a:p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7A8AA0"/>
                </a:solidFill>
                <a:latin typeface="Segoe UI"/>
              </a:rPr>
              <a:t>attack-grade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040983" y="2839212"/>
            <a:ext cx="109728" cy="128016"/>
          </a:xfrm>
          <a:prstGeom prst="rightArrow">
            <a:avLst/>
          </a:prstGeom>
          <a:solidFill>
            <a:srgbClr val="7A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68999" y="2331720"/>
            <a:ext cx="1650949" cy="1143000"/>
          </a:xfrm>
          <a:prstGeom prst="roundRect">
            <a:avLst>
              <a:gd name="adj" fmla="val 6000"/>
            </a:avLst>
          </a:prstGeom>
          <a:solidFill>
            <a:srgbClr val="0A1120"/>
          </a:solidFill>
          <a:ln w="9525">
            <a:solidFill>
              <a:srgbClr val="1B2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727" y="2514600"/>
            <a:ext cx="14314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1F5F9"/>
                </a:solidFill>
                <a:latin typeface="Segoe UI"/>
              </a:rPr>
              <a:t>911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0439" y="2990088"/>
            <a:ext cx="146806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7A8AA0"/>
                </a:solidFill>
                <a:latin typeface="Segoe UI"/>
              </a:rPr>
              <a:t>épisodes</a:t>
            </a:r>
          </a:p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7A8AA0"/>
                </a:solidFill>
                <a:latin typeface="Segoe UI"/>
              </a:rPr>
              <a:t>d'attaque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838236" y="2839212"/>
            <a:ext cx="109728" cy="128016"/>
          </a:xfrm>
          <a:prstGeom prst="rightArrow">
            <a:avLst/>
          </a:prstGeom>
          <a:solidFill>
            <a:srgbClr val="7A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66252" y="2331720"/>
            <a:ext cx="1650949" cy="1143000"/>
          </a:xfrm>
          <a:prstGeom prst="roundRect">
            <a:avLst>
              <a:gd name="adj" fmla="val 6000"/>
            </a:avLst>
          </a:prstGeom>
          <a:solidFill>
            <a:srgbClr val="0A1120"/>
          </a:solidFill>
          <a:ln w="9525">
            <a:solidFill>
              <a:srgbClr val="1B2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75980" y="2514600"/>
            <a:ext cx="14314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1F5F9"/>
                </a:solidFill>
                <a:latin typeface="Segoe UI"/>
              </a:rPr>
              <a:t>0,31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57692" y="2990088"/>
            <a:ext cx="146806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7A8AA0"/>
                </a:solidFill>
                <a:latin typeface="Segoe UI"/>
              </a:rPr>
              <a:t>incident à perte</a:t>
            </a:r>
          </a:p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7A8AA0"/>
                </a:solidFill>
                <a:latin typeface="Segoe UI"/>
              </a:rPr>
              <a:t>par an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635489" y="2839212"/>
            <a:ext cx="109728" cy="128016"/>
          </a:xfrm>
          <a:prstGeom prst="rightArrow">
            <a:avLst/>
          </a:prstGeom>
          <a:solidFill>
            <a:srgbClr val="7A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763505" y="2331720"/>
            <a:ext cx="1650949" cy="1143000"/>
          </a:xfrm>
          <a:prstGeom prst="roundRect">
            <a:avLst>
              <a:gd name="adj" fmla="val 6000"/>
            </a:avLst>
          </a:prstGeom>
          <a:solidFill>
            <a:srgbClr val="0A1120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3233" y="2514600"/>
            <a:ext cx="14314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8BDF8"/>
                </a:solidFill>
                <a:latin typeface="Segoe UI"/>
              </a:rPr>
              <a:t>274 k€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54945" y="2990088"/>
            <a:ext cx="146806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7A8AA0"/>
                </a:solidFill>
                <a:latin typeface="Segoe UI"/>
              </a:rPr>
              <a:t>perte annuelle</a:t>
            </a:r>
          </a:p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7A8AA0"/>
                </a:solidFill>
                <a:latin typeface="Segoe UI"/>
              </a:rPr>
              <a:t>moyenne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88620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Segoe UI"/>
              </a:rPr>
              <a:t>Chaque flèche est une décision de modélisation — et le reste de l'exposé les justifie une par une.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4581144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" y="4526280"/>
            <a:ext cx="9857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4A3B8"/>
                </a:solidFill>
                <a:latin typeface="Segoe UI"/>
              </a:rPr>
              <a:t>déduplication inter-flux   →   slide 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965192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" y="4910328"/>
            <a:ext cx="9857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4A3B8"/>
                </a:solidFill>
                <a:latin typeface="Segoe UI"/>
              </a:rPr>
              <a:t>seuil de sévérité + fenêtre de session   →   slide 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349240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" y="5294376"/>
            <a:ext cx="9857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4A3B8"/>
                </a:solidFill>
                <a:latin typeface="Segoe UI"/>
              </a:rPr>
              <a:t>changement d'unité : détections ≠ incidents à perte   →   slide 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5733288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8408" y="5678424"/>
            <a:ext cx="9857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4A3B8"/>
                </a:solidFill>
                <a:latin typeface="Segoe UI"/>
              </a:rPr>
              <a:t>lognormale pondérée par similarité   →   slides 8 à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8BDF8"/>
                </a:solidFill>
                <a:latin typeface="Segoe UI"/>
              </a:rPr>
              <a:t>ARCHITECTURE LOGICIELLE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1F5F9"/>
                </a:solidFill>
                <a:latin typeface="Segoe UI"/>
              </a:rPr>
              <a:t>Le modèle est un composant, l'interface est une vitrine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286000"/>
            <a:ext cx="6766560" cy="1051560"/>
          </a:xfrm>
          <a:prstGeom prst="roundRect">
            <a:avLst>
              <a:gd name="adj" fmla="val 6000"/>
            </a:avLst>
          </a:prstGeom>
          <a:solidFill>
            <a:srgbClr val="0A1120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688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38BDF8"/>
                </a:solidFill>
                <a:latin typeface="Segoe UI"/>
              </a:rPr>
              <a:t>risk_engine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8950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7A8AA0"/>
                </a:solidFill>
                <a:latin typeface="Segoe UI"/>
              </a:rPr>
              <a:t>package Python pur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88336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ingestion   ·   frequency   ·   severity   ·   simulation</a:t>
            </a:r>
          </a:p>
        </p:txBody>
      </p:sp>
      <p:sp>
        <p:nvSpPr>
          <p:cNvPr id="9" name="Down Arrow 8"/>
          <p:cNvSpPr/>
          <p:nvPr/>
        </p:nvSpPr>
        <p:spPr>
          <a:xfrm>
            <a:off x="4069080" y="3355848"/>
            <a:ext cx="146304" cy="109728"/>
          </a:xfrm>
          <a:prstGeom prst="downArrow">
            <a:avLst/>
          </a:prstGeom>
          <a:solidFill>
            <a:srgbClr val="7A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493008"/>
            <a:ext cx="6766560" cy="1051560"/>
          </a:xfrm>
          <a:prstGeom prst="roundRect">
            <a:avLst>
              <a:gd name="adj" fmla="val 6000"/>
            </a:avLst>
          </a:prstGeom>
          <a:solidFill>
            <a:srgbClr val="0A1120"/>
          </a:solidFill>
          <a:ln w="9525">
            <a:solidFill>
              <a:srgbClr val="1B2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67588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94A3B8"/>
                </a:solidFill>
                <a:latin typeface="Segoe UI"/>
              </a:rPr>
              <a:t>API Django / DRF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09651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7A8AA0"/>
                </a:solidFill>
                <a:latin typeface="Segoe UI"/>
              </a:rPr>
              <a:t>vues minces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89534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parse → appel → sérialisation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4069080" y="4562856"/>
            <a:ext cx="146304" cy="109728"/>
          </a:xfrm>
          <a:prstGeom prst="downArrow">
            <a:avLst/>
          </a:prstGeom>
          <a:solidFill>
            <a:srgbClr val="7A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700016"/>
            <a:ext cx="6766560" cy="1051560"/>
          </a:xfrm>
          <a:prstGeom prst="roundRect">
            <a:avLst>
              <a:gd name="adj" fmla="val 6000"/>
            </a:avLst>
          </a:prstGeom>
          <a:solidFill>
            <a:srgbClr val="0A1120"/>
          </a:solidFill>
          <a:ln w="9525">
            <a:solidFill>
              <a:srgbClr val="1B2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88289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94A3B8"/>
                </a:solidFill>
                <a:latin typeface="Segoe UI"/>
              </a:rPr>
              <a:t>UI Next.js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30352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7A8AA0"/>
                </a:solidFill>
                <a:latin typeface="Segoe UI"/>
              </a:rPr>
              <a:t>rendu seul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10235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aucun calcul de risque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2286000"/>
            <a:ext cx="3474720" cy="2258568"/>
          </a:xfrm>
          <a:prstGeom prst="roundRect">
            <a:avLst>
              <a:gd name="adj" fmla="val 6000"/>
            </a:avLst>
          </a:prstGeom>
          <a:solidFill>
            <a:srgbClr val="0A1120"/>
          </a:solidFill>
          <a:ln w="9525">
            <a:solidFill>
              <a:srgbClr val="1B2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2487168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8BDF8"/>
                </a:solidFill>
                <a:latin typeface="Segoe UI"/>
              </a:rPr>
              <a:t>Qualité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2980944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30768" y="2926080"/>
            <a:ext cx="2816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272 tests, 99 % de couverture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3300984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3246120"/>
            <a:ext cx="2816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mypy strict · ruff · pre-commit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3621024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30768" y="3566160"/>
            <a:ext cx="2816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aucun import Django dans le moteur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3941063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8" y="3886199"/>
            <a:ext cx="2816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seeds explicites, résultats rejouables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0" y="4261104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0768" y="4206240"/>
            <a:ext cx="2816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to_explanation() sur chaque résultat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4A3B8"/>
                </a:solidFill>
                <a:latin typeface="Segoe UI"/>
              </a:rPr>
              <a:t>Le moteur tourne sans serveur : notebook, CLI, ou test. L'API et l'UI le consomment, elles ne le contiennent pas.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8BDF8"/>
                </a:solidFill>
                <a:latin typeface="Segoe UI"/>
              </a:rPr>
              <a:t>INGESTION &amp; NORMALISATION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1F5F9"/>
                </a:solidFill>
                <a:latin typeface="Segoe UI"/>
              </a:rPr>
              <a:t>Deux outils, un seul flux d'événements</a:t>
            </a:r>
          </a:p>
        </p:txBody>
      </p:sp>
      <p:pic>
        <p:nvPicPr>
          <p:cNvPr id="5" name="Picture 4" descr="04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74519"/>
            <a:ext cx="6949440" cy="23981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863840" y="2203704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65008" y="2148840"/>
            <a:ext cx="3456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Segoe UI"/>
              </a:rPr>
              <a:t>sévérité textuelle (SIEM) vs score 0–999 (EDR)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2679192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65008" y="2624328"/>
            <a:ext cx="3456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Segoe UI"/>
              </a:rPr>
              <a:t>schémas différents, événements communs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3154680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5008" y="3099816"/>
            <a:ext cx="3456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Segoe UI"/>
              </a:rPr>
              <a:t>12 343 vus par les DEUX flux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3630168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3575304"/>
            <a:ext cx="3456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Segoe UI"/>
              </a:rPr>
              <a:t>clé de fusion : actif + technique + horodatage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4105656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4050792"/>
            <a:ext cx="3456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Segoe UI"/>
              </a:rPr>
              <a:t>règle : la PIRE sévérité gagne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26280"/>
            <a:ext cx="5029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BBF24"/>
                </a:solidFill>
                <a:latin typeface="Segoe UI"/>
              </a:rPr>
              <a:t>+42,4 %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846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d'inflation évitée — ce qu'une concaténation naïve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aurait ajouté à toutes les fréquences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526280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1F5F9"/>
                </a:solidFill>
                <a:latin typeface="Segoe UI"/>
              </a:rPr>
              <a:t>13 647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5184648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doublons absorbés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8BDF8"/>
                </a:solidFill>
                <a:latin typeface="Segoe UI"/>
              </a:rPr>
              <a:t>STATIONNARITÉ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1F5F9"/>
                </a:solidFill>
                <a:latin typeface="Segoe UI"/>
              </a:rPr>
              <a:t>Un débit plat autorise Poisson et l'annualisation</a:t>
            </a:r>
          </a:p>
        </p:txBody>
      </p:sp>
      <p:pic>
        <p:nvPicPr>
          <p:cNvPr id="5" name="Picture 4" descr="05_week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10607040" cy="42079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074920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1F5F9"/>
                </a:solidFill>
                <a:latin typeface="Segoe UI"/>
              </a:rPr>
              <a:t>212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733288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jours observés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1ᵉʳ nov. 2025 → 31 mai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5074920"/>
            <a:ext cx="3657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38BDF8"/>
                </a:solidFill>
                <a:latin typeface="Segoe UI"/>
              </a:rPr>
              <a:t>1,7217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5733288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facteur d'annualisation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365 / 212, recalculé depuis les données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8BDF8"/>
                </a:solidFill>
                <a:latin typeface="Segoe UI"/>
              </a:rPr>
              <a:t>FRÉQUENCE — ÉTAPE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1F5F9"/>
                </a:solidFill>
                <a:latin typeface="Segoe UI"/>
              </a:rPr>
              <a:t>Une alerte n'est pas une attaque</a:t>
            </a:r>
          </a:p>
        </p:txBody>
      </p:sp>
      <p:pic>
        <p:nvPicPr>
          <p:cNvPr id="5" name="Picture 4" descr="06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6858000" cy="25543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55279" y="2340864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6447" y="2286000"/>
            <a:ext cx="3456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Segoe UI"/>
              </a:rPr>
              <a:t>regroupement par actif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2798064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56447" y="2743200"/>
            <a:ext cx="3456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Segoe UI"/>
              </a:rPr>
              <a:t>silence &gt; 24 h → nouvel épisode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3255264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6447" y="3200400"/>
            <a:ext cx="3456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Segoe UI"/>
              </a:rPr>
              <a:t>seuil de sévérité : high et au-delà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3712464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7" y="3657600"/>
            <a:ext cx="3456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Segoe UI"/>
              </a:rPr>
              <a:t>les deux conventions sont des curseurs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4169664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56447" y="4114800"/>
            <a:ext cx="3456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Segoe UI"/>
              </a:rPr>
              <a:t>exposés dans l'interface, pas cachés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92040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1F5F9"/>
                </a:solidFill>
                <a:latin typeface="Segoe UI"/>
              </a:rPr>
              <a:t>10 126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550408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événements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attack-grade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892040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38BDF8"/>
                </a:solidFill>
                <a:latin typeface="Segoe UI"/>
              </a:rPr>
              <a:t>911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5550408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épisodes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reconstitués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892040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BBF24"/>
                </a:solidFill>
                <a:latin typeface="Segoe UI"/>
              </a:rPr>
              <a:t>11,1×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5550408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compression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3999" y="4892040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1F5F9"/>
                </a:solidFill>
                <a:latin typeface="Segoe UI"/>
              </a:rPr>
              <a:t>1 568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3999" y="5550408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attaques détectées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par 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8BDF8"/>
                </a:solidFill>
                <a:latin typeface="Segoe UI"/>
              </a:rPr>
              <a:t>FRÉQUENCE — ÉTAPE 2  ·  LE CŒUR DU SUJET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1F5F9"/>
                </a:solidFill>
                <a:latin typeface="Segoe UI"/>
              </a:rPr>
              <a:t>Changement d'unité : détecter n'est pas perdre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120640" cy="1371600"/>
          </a:xfrm>
          <a:prstGeom prst="roundRect">
            <a:avLst>
              <a:gd name="adj" fmla="val 6000"/>
            </a:avLst>
          </a:prstGeom>
          <a:solidFill>
            <a:srgbClr val="0A1120"/>
          </a:solidFill>
          <a:ln w="9525">
            <a:solidFill>
              <a:srgbClr val="D959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95926"/>
                </a:solidFill>
                <a:latin typeface="Segoe UI"/>
              </a:rPr>
              <a:t>Première version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774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1F5F9"/>
                </a:solidFill>
                <a:latin typeface="Segoe UI"/>
              </a:rPr>
              <a:t>λ = 9 168 attaques/an   →   AAL 12,5 Md€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8892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7A8AA0"/>
                </a:solidFill>
                <a:latin typeface="Segoe UI"/>
              </a:rPr>
              <a:t>absurde pour une ETI de 1 200 personnes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828800"/>
            <a:ext cx="4937760" cy="1371600"/>
          </a:xfrm>
          <a:prstGeom prst="roundRect">
            <a:avLst>
              <a:gd name="adj" fmla="val 6000"/>
            </a:avLst>
          </a:prstGeom>
          <a:solidFill>
            <a:srgbClr val="0A1120"/>
          </a:solidFill>
          <a:ln w="9525">
            <a:solidFill>
              <a:srgbClr val="1B2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0116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8BDF8"/>
                </a:solidFill>
                <a:latin typeface="Segoe UI"/>
              </a:rPr>
              <a:t>Diagnostic — erreur de catégorie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37744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télémétrie → attaques DÉTECTÉES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base externe → incidents À PERTE</a:t>
            </a:r>
          </a:p>
        </p:txBody>
      </p:sp>
      <p:pic>
        <p:nvPicPr>
          <p:cNvPr id="12" name="Picture 11" descr="07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7498079" cy="2516583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321040" y="3849624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22208" y="3794760"/>
            <a:ext cx="3182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Segoe UI"/>
              </a:rPr>
              <a:t>λ_incident = λ_détecté × 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4306824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22208" y="4251960"/>
            <a:ext cx="3182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Segoe UI"/>
              </a:rPr>
              <a:t>p ≈ 1 détection sur 5 138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4764024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4709160"/>
            <a:ext cx="3182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Segoe UI"/>
              </a:rPr>
              <a:t>ancré sur 1 310 organisations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5221224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22208" y="5166360"/>
            <a:ext cx="3182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Segoe UI"/>
              </a:rPr>
              <a:t>la base ancre le NIVEAU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0" y="5678424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2208" y="5623560"/>
            <a:ext cx="3182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Segoe UI"/>
              </a:rPr>
              <a:t>la télémétrie garde le MIX par type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8BDF8"/>
                </a:solidFill>
                <a:latin typeface="Segoe UI"/>
              </a:rPr>
              <a:t>SÉVÉRITÉ — LES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1F5F9"/>
                </a:solidFill>
                <a:latin typeface="Segoe UI"/>
              </a:rPr>
              <a:t>Pondérer par similarité, jamais filtrer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10607040" cy="960120"/>
          </a:xfrm>
          <a:prstGeom prst="roundRect">
            <a:avLst>
              <a:gd name="adj" fmla="val 6000"/>
            </a:avLst>
          </a:prstGeom>
          <a:solidFill>
            <a:srgbClr val="0A1120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7627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1F5F9"/>
                </a:solidFill>
                <a:latin typeface="Segoe UI"/>
              </a:rPr>
              <a:t>w  =  w_secteur  ×  w_taille  ×  exp( − d² / 2h² )        d = |maturité − 55|,  h =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00400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1F5F9"/>
                </a:solidFill>
                <a:latin typeface="Segoe UI"/>
              </a:rPr>
              <a:t>1 598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58768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incidents à perte exploitable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sur 1 600 lus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3200400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BBF24"/>
                </a:solidFill>
                <a:latin typeface="Sego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3858768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sentinelles −1 exclues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jamais traitées comme 0 €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3200400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95926"/>
                </a:solidFill>
                <a:latin typeface="Segoe UI"/>
              </a:rPr>
              <a:t>112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3858768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incidents si filtre EXACT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aucun type modélisable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3999" y="3200400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38BDF8"/>
                </a:solidFill>
                <a:latin typeface="Segoe UI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3999" y="3858768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n_eff de Kish minimal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sinon repli sur la poolée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09160"/>
            <a:ext cx="10637215" cy="9525"/>
          </a:xfrm>
          <a:prstGeom prst="rect">
            <a:avLst/>
          </a:prstGeom>
          <a:solidFill>
            <a:srgbClr val="1B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084064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5029200"/>
            <a:ext cx="10314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4A3B8"/>
                </a:solidFill>
                <a:latin typeface="Segoe UI"/>
              </a:rPr>
              <a:t>encodage des secteurs réparé — « Ã‰nergie » → « Énergie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495544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5440680"/>
            <a:ext cx="10314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4A3B8"/>
                </a:solidFill>
                <a:latin typeface="Segoe UI"/>
              </a:rPr>
              <a:t>aucun incident jeté : les plus proches dominent, les autres pèsent peu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907024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852160"/>
            <a:ext cx="10314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4A3B8"/>
                </a:solidFill>
                <a:latin typeface="Segoe UI"/>
              </a:rPr>
              <a:t>chaque ajustement publie son n_eff — la finesse a un coût, il est affiché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8BDF8"/>
                </a:solidFill>
                <a:latin typeface="Segoe UI"/>
              </a:rPr>
              <a:t>SÉVÉRITÉ — L'AJUSTEMENT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1F5F9"/>
                </a:solidFill>
                <a:latin typeface="Segoe UI"/>
              </a:rPr>
              <a:t>Une lognormale par type d'attaque</a:t>
            </a:r>
          </a:p>
        </p:txBody>
      </p:sp>
      <p:pic>
        <p:nvPicPr>
          <p:cNvPr id="5" name="Picture 4" descr="09_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74519"/>
            <a:ext cx="7589520" cy="33251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219456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8BDF8"/>
                </a:solidFill>
                <a:latin typeface="Segoe UI"/>
              </a:rPr>
              <a:t>supply 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5603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1F5F9"/>
                </a:solidFill>
                <a:latin typeface="Segoe UI"/>
              </a:rPr>
              <a:t>μ = 12,119     σ = 2,582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154680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1F5F9"/>
                </a:solidFill>
                <a:latin typeface="Segoe UI"/>
              </a:rPr>
              <a:t>183 k€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3813048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médiane — l'incident typique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4160520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BBF24"/>
                </a:solidFill>
                <a:latin typeface="Segoe UI"/>
              </a:rPr>
              <a:t>5,1 M€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4818888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moyenne — ce qui alimente l'AAL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51206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95926"/>
                </a:solidFill>
                <a:latin typeface="Segoe UI"/>
              </a:rPr>
              <a:t>la queue multiplie la moyenne par 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978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4A3B8"/>
                </a:solidFill>
                <a:latin typeface="Segoe UI"/>
              </a:rPr>
              <a:t>MLE pondéré sur les log-pertes — les pertes sont bornées à zéro et s'étalent sur quatre ordres de grandeur : c'est la forme naturelle.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8BDF8"/>
                </a:solidFill>
                <a:latin typeface="Segoe UI"/>
              </a:rPr>
              <a:t>SÉVÉRITÉ — LA PREUVE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1F5F9"/>
                </a:solidFill>
                <a:latin typeface="Segoe UI"/>
              </a:rPr>
              <a:t>Chaque ajustement est livré avec les preuves contre lui</a:t>
            </a:r>
          </a:p>
        </p:txBody>
      </p:sp>
      <p:pic>
        <p:nvPicPr>
          <p:cNvPr id="5" name="Picture 4" descr="10_q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74519"/>
            <a:ext cx="6583680" cy="429804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0" y="2340864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73568" y="2286000"/>
            <a:ext cx="36393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4A3B8"/>
                </a:solidFill>
                <a:latin typeface="Segoe UI"/>
              </a:rPr>
              <a:t>QQ-plot des log-pertes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779776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73568" y="2724912"/>
            <a:ext cx="36393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4A3B8"/>
                </a:solidFill>
                <a:latin typeface="Segoe UI"/>
              </a:rPr>
              <a:t>la diagonale = l'ajustement parfait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18688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73568" y="3163824"/>
            <a:ext cx="36393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4A3B8"/>
                </a:solidFill>
                <a:latin typeface="Segoe UI"/>
              </a:rPr>
              <a:t>KS pondéré 0,118 · seuil indicatif ≈ 0,19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3657600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3602736"/>
            <a:ext cx="36393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4A3B8"/>
                </a:solidFill>
                <a:latin typeface="Segoe UI"/>
              </a:rPr>
              <a:t>tient sur quatre ordres de grandeur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4096512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3568" y="4041648"/>
            <a:ext cx="36393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4A3B8"/>
                </a:solidFill>
                <a:latin typeface="Segoe UI"/>
              </a:rPr>
              <a:t>extrêmes légèrement SOUS la courbe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0" y="4535424"/>
            <a:ext cx="41148" cy="1645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73568" y="4480560"/>
            <a:ext cx="36393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4A3B8"/>
                </a:solidFill>
                <a:latin typeface="Segoe UI"/>
              </a:rPr>
              <a:t>→ queue prudente sur ce type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4937760"/>
            <a:ext cx="3749039" cy="1234440"/>
          </a:xfrm>
          <a:prstGeom prst="roundRect">
            <a:avLst>
              <a:gd name="adj" fmla="val 6000"/>
            </a:avLst>
          </a:prstGeom>
          <a:solidFill>
            <a:srgbClr val="0A1120"/>
          </a:solidFill>
          <a:ln w="9525">
            <a:solidFill>
              <a:srgbClr val="D959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1000" y="5102352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95926"/>
                </a:solidFill>
                <a:latin typeface="Segoe UI"/>
              </a:rPr>
              <a:t>Contre-preuve publiée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5413248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4A3B8"/>
                </a:solidFill>
                <a:latin typeface="Segoe UI"/>
              </a:rPr>
              <a:t>sur 5 ajustements sur 9, une queue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94A3B8"/>
                </a:solidFill>
                <a:latin typeface="Segoe UI"/>
              </a:rPr>
              <a:t>de Pareto décrit mieux les extrêmes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94A3B8"/>
                </a:solidFill>
                <a:latin typeface="Segoe UI"/>
              </a:rPr>
              <a:t>→ VaR 99 et TVaR 99 = bornes basses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8BDF8"/>
                </a:solidFill>
                <a:latin typeface="Segoe UI"/>
              </a:rPr>
              <a:t>SIMULATION MONTE CARLO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1F5F9"/>
                </a:solidFill>
                <a:latin typeface="Segoe UI"/>
              </a:rPr>
              <a:t>Composer fréquence et sévérité, pas les multiplier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10607040" cy="1234440"/>
          </a:xfrm>
          <a:prstGeom prst="roundRect">
            <a:avLst>
              <a:gd name="adj" fmla="val 6000"/>
            </a:avLst>
          </a:prstGeom>
          <a:solidFill>
            <a:srgbClr val="0A1120"/>
          </a:solidFill>
          <a:ln w="9525">
            <a:solidFill>
              <a:srgbClr val="1B2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21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pour chaque année simulée :   tirage Poisson(λ_type) par type d'attaque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  →   prix de chaque incident dans la lognormale de son type   →   somme des pertes de l'année</a:t>
            </a:r>
          </a:p>
        </p:txBody>
      </p:sp>
      <p:pic>
        <p:nvPicPr>
          <p:cNvPr id="7" name="Picture 6" descr="12b_annual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46120"/>
            <a:ext cx="7315200" cy="303946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3429000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1F5F9"/>
                </a:solidFill>
                <a:latin typeface="Segoe UI"/>
              </a:rPr>
              <a:t>100 000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4087368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années simulées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4343400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38BDF8"/>
                </a:solidFill>
                <a:latin typeface="Segoe UI"/>
              </a:rPr>
              <a:t>seed 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5001768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reproductibilité bit à bit —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la graine est affichée dans l'interface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5440680"/>
            <a:ext cx="3108960" cy="914400"/>
          </a:xfrm>
          <a:prstGeom prst="roundRect">
            <a:avLst>
              <a:gd name="adj" fmla="val 6000"/>
            </a:avLst>
          </a:prstGeom>
          <a:solidFill>
            <a:srgbClr val="0A1120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5596128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4A3B8"/>
                </a:solidFill>
                <a:latin typeface="Segoe UI"/>
              </a:rPr>
              <a:t>Garde-fou : perte unitaire plafonnée à 23,5 M€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94A3B8"/>
                </a:solidFill>
                <a:latin typeface="Segoe UI"/>
              </a:rPr>
              <a:t>(0,9 % des tirages) — sinon σ = 2,6 tire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94A3B8"/>
                </a:solidFill>
                <a:latin typeface="Segoe UI"/>
              </a:rPr>
              <a:t>des années au-delà du plausible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8BDF8"/>
                </a:solidFill>
                <a:latin typeface="Segoe UI"/>
              </a:rPr>
              <a:t>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1F5F9"/>
                </a:solidFill>
                <a:latin typeface="Segoe UI"/>
              </a:rPr>
              <a:t>Ce que coûte une année</a:t>
            </a:r>
          </a:p>
        </p:txBody>
      </p:sp>
      <p:pic>
        <p:nvPicPr>
          <p:cNvPr id="5" name="Picture 4" descr="12_exceed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7406640" cy="33519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783080"/>
            <a:ext cx="3291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38BDF8"/>
                </a:solidFill>
                <a:latin typeface="Segoe UI"/>
              </a:rPr>
              <a:t>274 k€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441448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AAL — perte annuelle moyenne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3291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1F5F9"/>
                </a:solidFill>
                <a:latin typeface="Segoe UI"/>
              </a:rPr>
              <a:t>0 €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447288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année médiane — 73,7 % des années sans incident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794760"/>
            <a:ext cx="3291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1F5F9"/>
                </a:solidFill>
                <a:latin typeface="Segoe UI"/>
              </a:rPr>
              <a:t>816 k€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453128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VaR 95 — une année sur vingt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800600"/>
            <a:ext cx="3291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1F5F9"/>
                </a:solidFill>
                <a:latin typeface="Segoe UI"/>
              </a:rPr>
              <a:t>6,7 M€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458968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VaR 99 — une année sur cent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58978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7A8AA0"/>
                </a:solidFill>
                <a:latin typeface="Segoe UI"/>
              </a:rPr>
              <a:t>budget   ·   appétit au risque   ·   question de survie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806440"/>
            <a:ext cx="137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BBF24"/>
                </a:solidFill>
                <a:latin typeface="Segoe UI"/>
              </a:rPr>
              <a:t>4,8 M€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59161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4A3B8"/>
                </a:solidFill>
                <a:latin typeface="Segoe UI"/>
              </a:rPr>
              <a:t>TVaR 95 — 5 % pires années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5806440"/>
            <a:ext cx="137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BBF24"/>
                </a:solidFill>
                <a:latin typeface="Segoe UI"/>
              </a:rPr>
              <a:t>15,1 M€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599" y="59161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4A3B8"/>
                </a:solidFill>
                <a:latin typeface="Segoe UI"/>
              </a:rPr>
              <a:t>TVaR 99 — 1 % pires années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8BDF8"/>
                </a:solidFill>
                <a:latin typeface="Segoe UI"/>
              </a:rPr>
              <a:t>LIMITES ASSUMÉES &amp; SUITES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1F5F9"/>
                </a:solidFill>
                <a:latin typeface="Segoe UI"/>
              </a:rPr>
              <a:t>Ce que je changerais en premier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10607040" cy="868680"/>
          </a:xfrm>
          <a:prstGeom prst="roundRect">
            <a:avLst>
              <a:gd name="adj" fmla="val 6000"/>
            </a:avLst>
          </a:prstGeom>
          <a:solidFill>
            <a:srgbClr val="0A1120"/>
          </a:solidFill>
          <a:ln w="9525">
            <a:solidFill>
              <a:srgbClr val="1B2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1F5F9"/>
                </a:solidFill>
                <a:latin typeface="Segoe UI"/>
              </a:rPr>
              <a:t>p_materialize est un scalaire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23160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A8AA0"/>
                </a:solidFill>
                <a:latin typeface="Segoe UI"/>
              </a:rPr>
              <a:t>un seul nombre absorbe le bruit des sondes, la qualité des contrôles et la vitesse de réaction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2258568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8BDF8"/>
                </a:solidFill>
                <a:latin typeface="Segoe UI"/>
              </a:rPr>
              <a:t>→ vulnérabilité FAIR pilotée par la maturité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990088"/>
            <a:ext cx="10607040" cy="868680"/>
          </a:xfrm>
          <a:prstGeom prst="roundRect">
            <a:avLst>
              <a:gd name="adj" fmla="val 6000"/>
            </a:avLst>
          </a:prstGeom>
          <a:solidFill>
            <a:srgbClr val="0A1120"/>
          </a:solidFill>
          <a:ln w="9525">
            <a:solidFill>
              <a:srgbClr val="1B2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12724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1F5F9"/>
                </a:solidFill>
                <a:latin typeface="Segoe UI"/>
              </a:rPr>
              <a:t>Fenêtre de sept mois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447288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A8AA0"/>
                </a:solidFill>
                <a:latin typeface="Segoe UI"/>
              </a:rPr>
              <a:t>aucune saisonnalité annuelle vérifiable — un pic Black Friday resterait invisible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3282696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8BDF8"/>
                </a:solidFill>
                <a:latin typeface="Segoe UI"/>
              </a:rPr>
              <a:t>→ fenêtre glissante, ingestion incrémentale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014216"/>
            <a:ext cx="10607040" cy="868680"/>
          </a:xfrm>
          <a:prstGeom prst="roundRect">
            <a:avLst>
              <a:gd name="adj" fmla="val 6000"/>
            </a:avLst>
          </a:prstGeom>
          <a:solidFill>
            <a:srgbClr val="0A1120"/>
          </a:solidFill>
          <a:ln w="9525">
            <a:solidFill>
              <a:srgbClr val="1B2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15137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1F5F9"/>
                </a:solidFill>
                <a:latin typeface="Segoe UI"/>
              </a:rPr>
              <a:t>Queue lognormale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471416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A8AA0"/>
                </a:solidFill>
                <a:latin typeface="Segoe UI"/>
              </a:rPr>
              <a:t>Pareto décrit mieux les extrêmes sur 5 ajustements sur 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4306824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8BDF8"/>
                </a:solidFill>
                <a:latin typeface="Segoe UI"/>
              </a:rPr>
              <a:t>→ GPD par dépassement de seuil, à comparer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038344"/>
            <a:ext cx="10607040" cy="868680"/>
          </a:xfrm>
          <a:prstGeom prst="roundRect">
            <a:avLst>
              <a:gd name="adj" fmla="val 6000"/>
            </a:avLst>
          </a:prstGeom>
          <a:solidFill>
            <a:srgbClr val="0A1120"/>
          </a:solidFill>
          <a:ln w="9525">
            <a:solidFill>
              <a:srgbClr val="1B2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1755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1F5F9"/>
                </a:solidFill>
                <a:latin typeface="Segoe UI"/>
              </a:rPr>
              <a:t>Types d'attaque indépendants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495544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A8AA0"/>
                </a:solidFill>
                <a:latin typeface="Segoe UI"/>
              </a:rPr>
              <a:t>un phishing amène un vol d'identifiants, qui amène un rançongiciel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5330952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8BDF8"/>
                </a:solidFill>
                <a:latin typeface="Segoe UI"/>
              </a:rPr>
              <a:t>→ copule sur les fréquences par type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4A3B8"/>
                </a:solidFill>
                <a:latin typeface="Segoe UI"/>
              </a:rPr>
              <a:t>Détail et arbitrages : next_steps.md · page /roadmap de l'interface — 17 chantiers, ce qui existe / ce qui change / ce que ça apporte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8BDF8"/>
                </a:solidFill>
                <a:latin typeface="Segoe UI"/>
              </a:rPr>
              <a:t>CE QUE VOUS AUDITEZ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1F5F9"/>
                </a:solidFill>
                <a:latin typeface="Segoe UI"/>
              </a:rPr>
              <a:t>Chaque chiffre a un chemin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075688"/>
            <a:ext cx="118872" cy="11887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1F5F9"/>
                </a:solidFill>
                <a:latin typeface="Segoe UI"/>
              </a:rPr>
              <a:t>data/*.csv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002536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A8AA0"/>
                </a:solidFill>
                <a:latin typeface="Segoe UI"/>
              </a:rPr>
              <a:t>4 fichiers, lecture seule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642616"/>
            <a:ext cx="118872" cy="118872"/>
          </a:xfrm>
          <a:prstGeom prst="ellipse">
            <a:avLst/>
          </a:prstGeom>
          <a:solidFill>
            <a:srgbClr val="7A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53288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1F5F9"/>
                </a:solidFill>
                <a:latin typeface="Segoe UI"/>
              </a:rPr>
              <a:t>NormalizationReport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2569464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A8AA0"/>
                </a:solidFill>
                <a:latin typeface="Segoe UI"/>
              </a:rPr>
              <a:t>chaque ligne rendue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209544"/>
            <a:ext cx="118872" cy="118872"/>
          </a:xfrm>
          <a:prstGeom prst="ellipse">
            <a:avLst/>
          </a:prstGeom>
          <a:solidFill>
            <a:srgbClr val="7A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99816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1F5F9"/>
                </a:solidFill>
                <a:latin typeface="Segoe UI"/>
              </a:rPr>
              <a:t>FrequencyEstimate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136392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A8AA0"/>
                </a:solidFill>
                <a:latin typeface="Segoe UI"/>
              </a:rPr>
              <a:t>épisodes → λ → calibration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776472"/>
            <a:ext cx="118872" cy="118872"/>
          </a:xfrm>
          <a:prstGeom prst="ellipse">
            <a:avLst/>
          </a:prstGeom>
          <a:solidFill>
            <a:srgbClr val="7A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1F5F9"/>
                </a:solidFill>
                <a:latin typeface="Segoe UI"/>
              </a:rPr>
              <a:t>SeverityModel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3703320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A8AA0"/>
                </a:solidFill>
                <a:latin typeface="Segoe UI"/>
              </a:rPr>
              <a:t>nettoyage → poids → ajustement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4343400"/>
            <a:ext cx="118872" cy="118872"/>
          </a:xfrm>
          <a:prstGeom prst="ellipse">
            <a:avLst/>
          </a:prstGeom>
          <a:solidFill>
            <a:srgbClr val="7A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3367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1F5F9"/>
                </a:solidFill>
                <a:latin typeface="Segoe UI"/>
              </a:rPr>
              <a:t>SimulationResult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4270248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A8AA0"/>
                </a:solidFill>
                <a:latin typeface="Segoe UI"/>
              </a:rPr>
              <a:t>λ × sévérité → métriques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910328"/>
            <a:ext cx="118872" cy="11887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8006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1F5F9"/>
                </a:solidFill>
                <a:latin typeface="Segoe UI"/>
              </a:rPr>
              <a:t>seed 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4837176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A8AA0"/>
                </a:solidFill>
                <a:latin typeface="Segoe UI"/>
              </a:rPr>
              <a:t>rejouable à l'euro près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1965960"/>
            <a:ext cx="3931920" cy="1920240"/>
          </a:xfrm>
          <a:prstGeom prst="roundRect">
            <a:avLst>
              <a:gd name="adj" fmla="val 6000"/>
            </a:avLst>
          </a:prstGeom>
          <a:solidFill>
            <a:srgbClr val="0A1120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0" y="2176272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8BDF8"/>
                </a:solidFill>
                <a:latin typeface="Segoe UI"/>
              </a:rPr>
              <a:t>Une commande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542032"/>
            <a:ext cx="3474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1F5F9"/>
                </a:solidFill>
                <a:latin typeface="Consolas"/>
              </a:rPr>
              <a:t>python -m risk_engine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F1F5F9"/>
                </a:solidFill>
                <a:latin typeface="Consolas"/>
              </a:rPr>
              <a:t>  --data-dir data/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F1F5F9"/>
                </a:solidFill>
                <a:latin typeface="Consolas"/>
              </a:rPr>
              <a:t>  --out results.json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48640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1F5F9"/>
                </a:solidFill>
                <a:latin typeface="Segoe UI"/>
              </a:rPr>
              <a:t>« Vous pouvez rejouer tout ce que je viens de dire. 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264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Segoe UI"/>
              </a:rPr>
              <a:t>La trace imprimée par la CLI est la même que celle servie par l'API et affichée par l'interface — il n'y a qu'une version de chaque chiffre.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