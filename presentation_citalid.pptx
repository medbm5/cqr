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cas demande une perte annuelle ; je l'ai traité comme un problème de traçabilité avant</a:t>
            </a:r>
          </a:p>
          <a:p>
            <a:r>
              <a:t>d'en faire un problème de statistique, parce que n'importe qui peut produire un nombre et que</a:t>
            </a:r>
          </a:p>
          <a:p>
            <a:r>
              <a:t>l'enjeu est de pouvoir le défendre ligne à ligne.</a:t>
            </a:r>
          </a:p>
          <a:p>
            <a:r>
              <a:t>Le fil rouge est celui de l'énoncé : chaque chiffre remonte à ses sources, et je terminerai par</a:t>
            </a:r>
          </a:p>
          <a:p>
            <a:r>
              <a:t>la commande qui rejoue l'ensemble.</a:t>
            </a:r>
          </a:p>
          <a:p>
            <a:r>
              <a:t>Je vais passer volontairement du temps sur une erreur que j'ai commise et corrigée — c'est elle</a:t>
            </a:r>
          </a:p>
          <a:p>
            <a:r>
              <a:t>qui structure tout le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Tout l'exposé tient ici : 45 840 lignes livrées par deux outils, 274 k€ de perte annuelle</a:t>
            </a:r>
          </a:p>
          <a:p>
            <a:r>
              <a:t>moyenne à l'arrivée.</a:t>
            </a:r>
          </a:p>
          <a:p>
            <a:r>
              <a:t>Les quatre premières flèches réduisent le volume — dédoublonnage, filtre de sévérité,</a:t>
            </a:r>
          </a:p>
          <a:p>
            <a:r>
              <a:t>regroupement en épisodes — mais la cinquième est d'une autre nature : c'est un changement</a:t>
            </a:r>
          </a:p>
          <a:p>
            <a:r>
              <a:t>d'unité, et c'est là que se joue la crédibilité du chiffre.</a:t>
            </a:r>
          </a:p>
          <a:p>
            <a:r>
              <a:t>Retenez l'ordre de grandeur, un facteur 150 000 entre les lignes brutes et les incidents à</a:t>
            </a:r>
          </a:p>
          <a:p>
            <a:r>
              <a:t>perte : une chaîne aussi longue ne vaut que si chaque maillon est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Contrainte que je me suis imposée : risk_engine n'importe jamais Django, et un test parcourt</a:t>
            </a:r>
          </a:p>
          <a:p>
            <a:r>
              <a:t>tous les modules dans un sous-processus pour le prouver, parce qu'une dépendance de ce genre</a:t>
            </a:r>
          </a:p>
          <a:p>
            <a:r>
              <a:t>s'introduit sans qu'on s'en aperçoive.</a:t>
            </a:r>
          </a:p>
          <a:p>
            <a:r>
              <a:t>La conséquence pratique, c'est que le modèle s'utilise dans un notebook, un batch ou un autre</a:t>
            </a:r>
          </a:p>
          <a:p>
            <a:r>
              <a:t>produit, sans traîner un framework web derrière lui.</a:t>
            </a:r>
          </a:p>
          <a:p>
            <a:r>
              <a:t>to_explanation() rend cet exposé possible : chaque objet de résultat sait raconter comment il a</a:t>
            </a:r>
          </a:p>
          <a:p>
            <a:r>
              <a:t>été obtenu, et c'est la même trace que la CLI imprime, que l'API sert et que l'interface</a:t>
            </a:r>
          </a:p>
          <a:p>
            <a:r>
              <a:t>affiche.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piège du jeu de données est ici : les deux flux ne sont pas complémentaires mais</a:t>
            </a:r>
          </a:p>
          <a:p>
            <a:r>
              <a:t>partiellement redondants, avec 12 343 événements portant le même actif, la même technique et le</a:t>
            </a:r>
          </a:p>
          <a:p>
            <a:r>
              <a:t>même horodatage des deux côtés.</a:t>
            </a:r>
          </a:p>
          <a:p>
            <a:r>
              <a:t>Concaténer aurait gonflé toutes les fréquences de 42 %, et l'erreur serait passée inaperçue</a:t>
            </a:r>
          </a:p>
          <a:p>
            <a:r>
              <a:t>parce que le résultat reste plausible.</a:t>
            </a:r>
          </a:p>
          <a:p>
            <a:r>
              <a:t>Sur la règle de fusion : quand les deux outils divergent sur la sévérité je garde la pire — si</a:t>
            </a:r>
          </a:p>
          <a:p>
            <a:r>
              <a:t>l'EDR voit critique là où le SIEM voit medium, c'est qu'il a vu quelque chose de plus proche du</a:t>
            </a:r>
          </a:p>
          <a:p>
            <a:r>
              <a:t>poste, et prendre la moyenne diluerait un signal fort dans un signal faible.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slide justifie deux hypothèses d'un coup : d'abord Poisson, parce que le débit</a:t>
            </a:r>
          </a:p>
          <a:p>
            <a:r>
              <a:t>hebdomadaire est stable sur les sept mois, sans tendance ni rupture, ce qui est la condition</a:t>
            </a:r>
          </a:p>
          <a:p>
            <a:r>
              <a:t>d'un processus à taux constant.</a:t>
            </a:r>
          </a:p>
          <a:p>
            <a:r>
              <a:t>Ensuite l'annualisation — le facteur 1,7217 n'est pas écrit en dur, il vaut 365 divisé par le</a:t>
            </a:r>
          </a:p>
          <a:p>
            <a:r>
              <a:t>nombre de jours réellement observés, donc un export plus long change le résultat tout seul.</a:t>
            </a:r>
          </a:p>
          <a:p>
            <a:r>
              <a:t>Limite assumée : sept mois ne montrent aucune saisonnalité annuelle, et un pic de novembre lié</a:t>
            </a:r>
          </a:p>
          <a:p>
            <a:r>
              <a:t>au Black Friday sur un e-commerçant, je ne peux ni le confirmer ni l'exclure.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intrusion ne produit pas une alerte mais une rafale ; compter les alertes mesurerait le</a:t>
            </a:r>
          </a:p>
          <a:p>
            <a:r>
              <a:t>bavardage des sondes, pas la fréquence des attaques.</a:t>
            </a:r>
          </a:p>
          <a:p>
            <a:r>
              <a:t>Je regroupe donc par actif avec une fenêtre de silence de 24 heures, l'ordre de grandeur d'une</a:t>
            </a:r>
          </a:p>
          <a:p>
            <a:r>
              <a:t>session d'intrusion et d'un cycle de traitement en SOC : c'est une convention, pas une mesure,</a:t>
            </a:r>
          </a:p>
          <a:p>
            <a:r>
              <a:t>et le graphique montre exactement ce qu'elle coûte, de 8 500 épisodes à une heure jusqu'à 911 à</a:t>
            </a:r>
          </a:p>
          <a:p>
            <a:r>
              <a:t>vingt-quatre.</a:t>
            </a:r>
          </a:p>
          <a:p>
            <a:r>
              <a:t>Le regroupement se fait par actif seul et non par actif et type d'attaque, parce qu'un intrus</a:t>
            </a:r>
          </a:p>
          <a:p>
            <a:r>
              <a:t>déclenche les détections qu'il rencontre et que les compter par type reviendrait à recompter la</a:t>
            </a:r>
          </a:p>
          <a:p>
            <a:r>
              <a:t>même intrusion sous plusieurs noms.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 première version multipliait 9 168 attaques par an par un coût moyen d'incident et sortait</a:t>
            </a:r>
          </a:p>
          <a:p>
            <a:r>
              <a:t>12,5 milliards d'euros pour une ETI — un chiffre faux d'un facteur mille, produit par un code</a:t>
            </a:r>
          </a:p>
          <a:p>
            <a:r>
              <a:t>juste.</a:t>
            </a:r>
          </a:p>
          <a:p>
            <a:r>
              <a:t>Ce n'est pas un bug mais une erreur de catégorie : la télémétrie compte des attaques détectées,</a:t>
            </a:r>
          </a:p>
          <a:p>
            <a:r>
              <a:t>la base externe des incidents qui ont coûté de l'argent, et rien n'empêchait de multiplier les</a:t>
            </a:r>
          </a:p>
          <a:p>
            <a:r>
              <a:t>deux.</a:t>
            </a:r>
          </a:p>
          <a:p>
            <a:r>
              <a:t>La correction est une calibration — je fixe p pour que cette entreprise retrouve le taux</a:t>
            </a:r>
          </a:p>
          <a:p>
            <a:r>
              <a:t>d'incidents de 1 310 organisations comparables, pondérées par le même noyau que la sévérité,</a:t>
            </a:r>
          </a:p>
          <a:p>
            <a:r>
              <a:t>soit une détection sur 5 138 qui finit en perte.</a:t>
            </a:r>
          </a:p>
          <a:p>
            <a:r>
              <a:t>Le prix à payer, et je l'assume : la télémétrie ne pilote plus le niveau, seulement le mix par</a:t>
            </a:r>
          </a:p>
          <a:p>
            <a:r>
              <a:t>type, et c'est le premier point de mon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pièges dans la base externe : les pertes à −1 sont des valeurs manquantes et non des</a:t>
            </a:r>
          </a:p>
          <a:p>
            <a:r>
              <a:t>incidents gratuits, et les libellés de secteur arrivaient en double encodage UTF-8, ce qui</a:t>
            </a:r>
          </a:p>
          <a:p>
            <a:r>
              <a:t>séparait Énergie en deux secteurs distincts.</a:t>
            </a:r>
          </a:p>
          <a:p>
            <a:r>
              <a:t>Le vrai choix de modélisation est la pondération douce : un filtre exact sur le profil ne laisse</a:t>
            </a:r>
          </a:p>
          <a:p>
            <a:r>
              <a:t>que 112 incidents sur 1 598, et plus aucun type d'attaque n'a d'échantillon crédible —</a:t>
            </a:r>
          </a:p>
          <a:p>
            <a:r>
              <a:t>mathématiquement propre, pratiquement inutilisable.</a:t>
            </a:r>
          </a:p>
          <a:p>
            <a:r>
              <a:t>Je garde donc tout le monde avec un poids décroissant selon la ressemblance ; le prix de cette</a:t>
            </a:r>
          </a:p>
          <a:p>
            <a:r>
              <a:t>souplesse est un échantillon effectif plus petit que l'échantillon nominal, que je publie type</a:t>
            </a:r>
          </a:p>
          <a:p>
            <a:r>
              <a:t>par type et qui déclenche un repli sur la poolée en dessous de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Pourquoi une lognormale : une perte ne peut pas être négative, n'a pas de plafond naturel et</a:t>
            </a:r>
          </a:p>
          <a:p>
            <a:r>
              <a:t>s'étale ici sur quatre ordres de grandeur, la signature d'une variable dont le logarithme est à</a:t>
            </a:r>
          </a:p>
          <a:p>
            <a:r>
              <a:t>peu près normal — en passant aux logs, l'asymétrie tombe de 7,4 à 0,8.</a:t>
            </a:r>
          </a:p>
          <a:p>
            <a:r>
              <a:t>Un ajustement par type et non un seul global, parce que la base est un mélange de régimes très</a:t>
            </a:r>
          </a:p>
          <a:p>
            <a:r>
              <a:t>différents qu'une lognormale unique se fait rejeter par Kolmogorov-Smirnov.</a:t>
            </a:r>
          </a:p>
          <a:p>
            <a:r>
              <a:t>Le chiffre à retenir est l'écart entre médiane et moyenne, 183 k€ contre 5,1 M€ : l'incident</a:t>
            </a:r>
          </a:p>
          <a:p>
            <a:r>
              <a:t>typique ne dit rien du coût moyen, et c'est la moyenne qui alimente la perte annuelle.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KS pondéré vaut 0,118 pour un seuil indicatif autour de 0,19 à cet échantillon effectif,</a:t>
            </a:r>
          </a:p>
          <a:p>
            <a:r>
              <a:t>donc l'ajustement n'est pas rejeté — mais un chiffre unique ne dit pas où le modèle se trompe,</a:t>
            </a:r>
          </a:p>
          <a:p>
            <a:r>
              <a:t>d'où le QQ-plot.</a:t>
            </a:r>
          </a:p>
          <a:p>
            <a:r>
              <a:t>Les points suivent la diagonale sur quatre ordres de grandeur et les trois plus extrêmes passent</a:t>
            </a:r>
          </a:p>
          <a:p>
            <a:r>
              <a:t>légèrement en dessous : le modèle prédit un peu plus cher que l'observé, donc la queue est</a:t>
            </a:r>
          </a:p>
          <a:p>
            <a:r>
              <a:t>prudente sur ce type, ce qui est le bon sens de l'erreur pour une mesure de risque.</a:t>
            </a:r>
          </a:p>
          <a:p>
            <a:r>
              <a:t>Je publie aussi la contre-preuve et elle va dans l'autre sens : sur cinq ajustements sur neuf</a:t>
            </a:r>
          </a:p>
          <a:p>
            <a:r>
              <a:t>une loi de Pareto décrit mieux les extrêmes, donc mes VaR 99 et TVaR 99 se lisent comme des</a:t>
            </a:r>
          </a:p>
          <a:p>
            <a:r>
              <a:t>bornes basses.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Pourquoi simuler plutôt qu'une formule fermée : l'espérance d'une loi composée s'écrit</a:t>
            </a:r>
          </a:p>
          <a:p>
            <a:r>
              <a:t>analytiquement, mais la VaR 99 et la TVaR 99 non — il faut la distribution complète, et elle</a:t>
            </a:r>
          </a:p>
          <a:p>
            <a:r>
              <a:t>dépend de la façon dont les deux étages se composent.</a:t>
            </a:r>
          </a:p>
          <a:p>
            <a:r>
              <a:t>Une année n'est pas la fréquence multipliée par le coût moyen : c'est zéro incident trois fois</a:t>
            </a:r>
          </a:p>
          <a:p>
            <a:r>
              <a:t>sur quatre, un parfois, très rarement deux, et la somme de ces cas n'est pas le produit des</a:t>
            </a:r>
          </a:p>
          <a:p>
            <a:r>
              <a:t>moyennes.</a:t>
            </a:r>
          </a:p>
          <a:p>
            <a:r>
              <a:t>Sur le garde-fou : à sigma 2,6 et sur cent mille années, une lognormale non bornée finit par</a:t>
            </a:r>
          </a:p>
          <a:p>
            <a:r>
              <a:t>tirer un incident qui coûte plus que l'entreprise ne vaut — la pire année non plafonnée montait</a:t>
            </a:r>
          </a:p>
          <a:p>
            <a:r>
              <a:t>à 3,8 milliards, donc je plafonne au 99,9e centile des pertes réellement observées chez les</a:t>
            </a:r>
          </a:p>
          <a:p>
            <a:r>
              <a:t>pairs et j'affiche ce que cela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lectures métier, trois chiffres : l'AAL à 274 k€ est la ligne budgétaire, la VaR 95 à</a:t>
            </a:r>
          </a:p>
          <a:p>
            <a:r>
              <a:t>816 k€ l'appétit au risque, la TVaR 99 à 15,1 M€ la question de survie.</a:t>
            </a:r>
          </a:p>
          <a:p>
            <a:r>
              <a:t>Le point contre-intuitif est l'année médiane à zéro euro — trois années sur quatre ne coûtent</a:t>
            </a:r>
          </a:p>
          <a:p>
            <a:r>
              <a:t>rien, parce que le taux d'incidents est de 0,31 par an, et c'est la forme même du risque cyber</a:t>
            </a:r>
          </a:p>
          <a:p>
            <a:r>
              <a:t>pour une ETI : rien, rien, rien, puis un événement qui compte.</a:t>
            </a:r>
          </a:p>
          <a:p>
            <a:r>
              <a:t>Sur les courbes, l'AEP est le total de l'année et l'OEP la plus grosse perte unitaire, leur</a:t>
            </a:r>
          </a:p>
          <a:p>
            <a:r>
              <a:t>écart mesurant la part des années à plusieurs incidents ; le plateau de l'OEP à droite est le</a:t>
            </a:r>
          </a:p>
          <a:p>
            <a:r>
              <a:t>plafond de plausibilité, visible et non dissimulé.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limites ne sont pas des oublis mais des arbitrages, chacun écrit dans le dépôt avec</a:t>
            </a:r>
          </a:p>
          <a:p>
            <a:r>
              <a:t>la raison de ne pas l'avoir traité.</a:t>
            </a:r>
          </a:p>
          <a:p>
            <a:r>
              <a:t>La plus gênante est la première : en ancrant le taux d'incidents entièrement sur les pairs, j'ai</a:t>
            </a:r>
          </a:p>
          <a:p>
            <a:r>
              <a:t>retiré tout poids à l'observation propre de l'entreprise — un parc réellement attaqué deux fois</a:t>
            </a:r>
          </a:p>
          <a:p>
            <a:r>
              <a:t>plus que ses pairs serait aujourd'hui tarifé à l'identique.</a:t>
            </a:r>
          </a:p>
          <a:p>
            <a:r>
              <a:t>Le correctif est un mélange de crédibilité Gamma-Poisson, où le poids accordé à la télémétrie</a:t>
            </a:r>
          </a:p>
          <a:p>
            <a:r>
              <a:t>croît avec la fenêtre d'observation. Ce que je n'ai pas fait faute de données : ce mélange</a:t>
            </a:r>
          </a:p>
          <a:p>
            <a:r>
              <a:t>demande de savoir combien d'années-organisation de télémétrie valent une année de taux de base,</a:t>
            </a:r>
          </a:p>
          <a:p>
            <a:r>
              <a:t>et une seule entreprise observée ne permet pas de l'estimer.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termine où j'ai commencé : chaque chiffre montré aujourd'hui a un chemin explicite depuis</a:t>
            </a:r>
          </a:p>
          <a:p>
            <a:r>
              <a:t>les CSV, le rapport de normalisation rendant compte de chaque ligne lue avant que chaque étage</a:t>
            </a:r>
          </a:p>
          <a:p>
            <a:r>
              <a:t>expose sa propre trace numérotée.</a:t>
            </a:r>
          </a:p>
          <a:p>
            <a:r>
              <a:t>Ces traces ne sont pas de la documentation écrite à côté du code, elles sont produites par le</a:t>
            </a:r>
          </a:p>
          <a:p>
            <a:r>
              <a:t>code à partir des mêmes objets que les calculs, et ne peuvent donc pas diverger du modèle.</a:t>
            </a:r>
          </a:p>
          <a:p>
            <a:r>
              <a:t>Une seule commande rejoue l'ensemble et écrit un JSON contenant les chiffres et les</a:t>
            </a:r>
          </a:p>
          <a:p>
            <a:r>
              <a:t>explications ; avec la graine 42 vous retombez sur mes valeurs à l'euro près.</a:t>
            </a:r>
          </a:p>
          <a:p>
            <a:r>
              <a:t>Si un chiffre vous paraît faux, il y a une ligne de trace à contester plutôt qu'une parole à</a:t>
            </a:r>
          </a:p>
          <a:p>
            <a:r>
              <a:t>croire.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64008" cy="13716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2331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Segoe UI"/>
              </a:rPr>
              <a:t>QUANTIFICATION DU RISQUE CYBER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74320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1F5F9"/>
                </a:solidFill>
                <a:latin typeface="Segoe UI"/>
              </a:rPr>
              <a:t>De la télémétrie brute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1F5F9"/>
                </a:solidFill>
                <a:latin typeface="Segoe UI"/>
              </a:rPr>
              <a:t>à une perte annuelle chiffrée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ETI Retail / e-commerce   ·   1 200 employés   ·   maturité 55/100   ·   ~20 actifs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029200"/>
            <a:ext cx="10637215" cy="9525"/>
          </a:xfrm>
          <a:prstGeom prst="rect">
            <a:avLst/>
          </a:prstGeom>
          <a:solidFill>
            <a:srgbClr val="1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1F5F9"/>
                </a:solidFill>
                <a:latin typeface="Segoe UI"/>
              </a:rPr>
              <a:t>[Votre nom]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8055" y="52852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7A8AA0"/>
                </a:solidFill>
                <a:latin typeface="Segoe UI"/>
              </a:rPr>
              <a:t>Un chiffre de risque doit toujours pouvoir être tracé et expliqué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LA DÉMARCHE EN UNE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Six étapes, six justifications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650949" cy="114300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514600"/>
            <a:ext cx="14314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1F5F9"/>
                </a:solidFill>
                <a:latin typeface="Segoe UI"/>
              </a:rPr>
              <a:t>45 840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90088"/>
            <a:ext cx="14680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7A8AA0"/>
                </a:solidFill>
                <a:latin typeface="Segoe UI"/>
              </a:rPr>
              <a:t>lignes brutes</a:t>
            </a:r>
          </a:p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7A8AA0"/>
                </a:solidFill>
                <a:latin typeface="Segoe UI"/>
              </a:rPr>
              <a:t>SIEM + EDR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46477" y="2839212"/>
            <a:ext cx="109728" cy="128016"/>
          </a:xfrm>
          <a:prstGeom prst="rightArrow">
            <a:avLst/>
          </a:prstGeom>
          <a:solidFill>
            <a:srgbClr val="7A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74493" y="2331720"/>
            <a:ext cx="1650949" cy="114300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4221" y="2514600"/>
            <a:ext cx="14314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1F5F9"/>
                </a:solidFill>
                <a:latin typeface="Segoe UI"/>
              </a:rPr>
              <a:t>32 193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5933" y="2990088"/>
            <a:ext cx="14680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7A8AA0"/>
                </a:solidFill>
                <a:latin typeface="Segoe UI"/>
              </a:rPr>
              <a:t>événements</a:t>
            </a:r>
          </a:p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7A8AA0"/>
                </a:solidFill>
                <a:latin typeface="Segoe UI"/>
              </a:rPr>
              <a:t>distincts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43730" y="2839212"/>
            <a:ext cx="109728" cy="128016"/>
          </a:xfrm>
          <a:prstGeom prst="rightArrow">
            <a:avLst/>
          </a:prstGeom>
          <a:solidFill>
            <a:srgbClr val="7A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1746" y="2331720"/>
            <a:ext cx="1650949" cy="114300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1474" y="2514600"/>
            <a:ext cx="14314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1F5F9"/>
                </a:solidFill>
                <a:latin typeface="Segoe UI"/>
              </a:rPr>
              <a:t>10 126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3186" y="2990088"/>
            <a:ext cx="14680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7A8AA0"/>
                </a:solidFill>
                <a:latin typeface="Segoe UI"/>
              </a:rPr>
              <a:t>événements</a:t>
            </a:r>
          </a:p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7A8AA0"/>
                </a:solidFill>
                <a:latin typeface="Segoe UI"/>
              </a:rPr>
              <a:t>attack-grade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40983" y="2839212"/>
            <a:ext cx="109728" cy="128016"/>
          </a:xfrm>
          <a:prstGeom prst="rightArrow">
            <a:avLst/>
          </a:prstGeom>
          <a:solidFill>
            <a:srgbClr val="7A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68999" y="2331720"/>
            <a:ext cx="1650949" cy="114300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2514600"/>
            <a:ext cx="14314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1F5F9"/>
                </a:solidFill>
                <a:latin typeface="Segoe UI"/>
              </a:rPr>
              <a:t>911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0439" y="2990088"/>
            <a:ext cx="14680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7A8AA0"/>
                </a:solidFill>
                <a:latin typeface="Segoe UI"/>
              </a:rPr>
              <a:t>épisodes</a:t>
            </a:r>
          </a:p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7A8AA0"/>
                </a:solidFill>
                <a:latin typeface="Segoe UI"/>
              </a:rPr>
              <a:t>d'attaque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38236" y="2839212"/>
            <a:ext cx="109728" cy="128016"/>
          </a:xfrm>
          <a:prstGeom prst="rightArrow">
            <a:avLst/>
          </a:prstGeom>
          <a:solidFill>
            <a:srgbClr val="7A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66252" y="2331720"/>
            <a:ext cx="1650949" cy="114300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5980" y="2514600"/>
            <a:ext cx="14314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1F5F9"/>
                </a:solidFill>
                <a:latin typeface="Segoe UI"/>
              </a:rPr>
              <a:t>0,31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7692" y="2990088"/>
            <a:ext cx="14680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7A8AA0"/>
                </a:solidFill>
                <a:latin typeface="Segoe UI"/>
              </a:rPr>
              <a:t>incident à perte</a:t>
            </a:r>
          </a:p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7A8AA0"/>
                </a:solidFill>
                <a:latin typeface="Segoe UI"/>
              </a:rPr>
              <a:t>par an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635489" y="2839212"/>
            <a:ext cx="109728" cy="128016"/>
          </a:xfrm>
          <a:prstGeom prst="rightArrow">
            <a:avLst/>
          </a:prstGeom>
          <a:solidFill>
            <a:srgbClr val="7A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63505" y="2331720"/>
            <a:ext cx="1650949" cy="114300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3233" y="2514600"/>
            <a:ext cx="14314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8BDF8"/>
                </a:solidFill>
                <a:latin typeface="Segoe UI"/>
              </a:rPr>
              <a:t>274 k€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4945" y="2990088"/>
            <a:ext cx="14680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7A8AA0"/>
                </a:solidFill>
                <a:latin typeface="Segoe UI"/>
              </a:rPr>
              <a:t>perte annuelle</a:t>
            </a:r>
          </a:p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7A8AA0"/>
                </a:solidFill>
                <a:latin typeface="Segoe UI"/>
              </a:rPr>
              <a:t>moyenne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Chaque flèche est une décision de modélisation — et le reste de l'exposé les justifie une par une.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58114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4526280"/>
            <a:ext cx="9857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déduplication inter-flux   →   slide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965192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4910328"/>
            <a:ext cx="9857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seuil de sévérité + fenêtre de session   →   slide 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5349240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294376"/>
            <a:ext cx="9857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changement d'unité : détections ≠ incidents à perte   →   slide 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733288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5678424"/>
            <a:ext cx="9857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lognormale pondérée par similarité   →   slides 8 à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ARCHITECTURE LOGICIELLE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Le modèle est un composant, l'interface est une vitrine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6766560" cy="105156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8BDF8"/>
                </a:solidFill>
                <a:latin typeface="Segoe UI"/>
              </a:rPr>
              <a:t>risk_engine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95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A8AA0"/>
                </a:solidFill>
                <a:latin typeface="Segoe UI"/>
              </a:rPr>
              <a:t>package Python pur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8833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ingestion   ·   frequency   ·   severity   ·   simulation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4069080" y="3355848"/>
            <a:ext cx="146304" cy="109728"/>
          </a:xfrm>
          <a:prstGeom prst="downArrow">
            <a:avLst/>
          </a:prstGeom>
          <a:solidFill>
            <a:srgbClr val="7A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3493008"/>
            <a:ext cx="6766560" cy="105156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758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94A3B8"/>
                </a:solidFill>
                <a:latin typeface="Segoe UI"/>
              </a:rPr>
              <a:t>API Django / DRF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9651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A8AA0"/>
                </a:solidFill>
                <a:latin typeface="Segoe UI"/>
              </a:rPr>
              <a:t>vues minces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89534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parse → appel → sérialisation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069080" y="4562856"/>
            <a:ext cx="146304" cy="109728"/>
          </a:xfrm>
          <a:prstGeom prst="downArrow">
            <a:avLst/>
          </a:prstGeom>
          <a:solidFill>
            <a:srgbClr val="7A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700016"/>
            <a:ext cx="6766560" cy="105156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88289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94A3B8"/>
                </a:solidFill>
                <a:latin typeface="Segoe UI"/>
              </a:rPr>
              <a:t>UI Next.js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303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A8AA0"/>
                </a:solidFill>
                <a:latin typeface="Segoe UI"/>
              </a:rPr>
              <a:t>rendu seul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102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aucun calcul de risque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286000"/>
            <a:ext cx="3474720" cy="2258568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48716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Segoe UI"/>
              </a:rPr>
              <a:t>Qualité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98094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2926080"/>
            <a:ext cx="2816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272 tests, 99 % de couverture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30098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3246120"/>
            <a:ext cx="2816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mypy strict · ruff · pre-commit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62102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3566160"/>
            <a:ext cx="2816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aucun import Django dans le moteur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941063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3886199"/>
            <a:ext cx="2816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seeds explicites, résultats rejouables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26110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4206240"/>
            <a:ext cx="2816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to_explanation() sur chaque résultat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Le moteur tourne sans serveur : notebook, CLI, ou test. L'API et l'UI le consomment, elles ne le contiennent pas.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INGESTION &amp; NORMALISATION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Deux outils, un seul flux d'événements</a:t>
            </a:r>
          </a:p>
        </p:txBody>
      </p:sp>
      <p:pic>
        <p:nvPicPr>
          <p:cNvPr id="5" name="Picture 4" descr="04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6949440" cy="23981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220370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65008" y="214884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sévérité textuelle (SIEM) vs score 0–999 (EDR)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679192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624328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schémas différents, événements communs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3154680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3099816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12 343 vus par les DEUX flux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3630168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3575304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clé de fusion : actif + technique + horodatage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4105656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050792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règle : la PIRE sévérité gagne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BBF24"/>
                </a:solidFill>
                <a:latin typeface="Segoe UI"/>
              </a:rPr>
              <a:t>+42,4 %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84648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d'inflation évitée — ce qu'une concaténation naïve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aurait ajouté à toutes les fréquences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52628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1F5F9"/>
                </a:solidFill>
                <a:latin typeface="Segoe UI"/>
              </a:rPr>
              <a:t>13 647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18464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doublons absorbés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STATIONNARITÉ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Un débit plat autorise Poisson et l'annualisation</a:t>
            </a:r>
          </a:p>
        </p:txBody>
      </p:sp>
      <p:pic>
        <p:nvPicPr>
          <p:cNvPr id="5" name="Picture 4" descr="05_week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10607040" cy="42079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07492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1F5F9"/>
                </a:solidFill>
                <a:latin typeface="Segoe UI"/>
              </a:rPr>
              <a:t>212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3328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jours observés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1ᵉʳ nov. 2025 → 31 mai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5074920"/>
            <a:ext cx="3657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38BDF8"/>
                </a:solidFill>
                <a:latin typeface="Segoe UI"/>
              </a:rPr>
              <a:t>1,7217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73328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facteur d'annualisation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365 / 212, recalculé depuis les données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FRÉQUENCE — ÉTAPE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Une alerte n'est pas une attaque</a:t>
            </a:r>
          </a:p>
        </p:txBody>
      </p:sp>
      <p:pic>
        <p:nvPicPr>
          <p:cNvPr id="5" name="Picture 4" descr="06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6858000" cy="2554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79" y="234086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6447" y="228600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regroupement par actif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279806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7" y="274320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silence &gt; 24 h → nouvel épisode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325526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7" y="320040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seuil de sévérité : high et au-delà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371246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7" y="365760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les deux conventions sont des curseurs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16966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7" y="4114800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exposés dans l'interface, pas cachés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1F5F9"/>
                </a:solidFill>
                <a:latin typeface="Segoe UI"/>
              </a:rPr>
              <a:t>10 126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5040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événements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attack-grade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892040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38BDF8"/>
                </a:solidFill>
                <a:latin typeface="Segoe UI"/>
              </a:rPr>
              <a:t>911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55040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épisodes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reconstitués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892040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BBF24"/>
                </a:solidFill>
                <a:latin typeface="Segoe UI"/>
              </a:rPr>
              <a:t>11,1×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55040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compression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4892040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1F5F9"/>
                </a:solidFill>
                <a:latin typeface="Segoe UI"/>
              </a:rPr>
              <a:t>1 568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555040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attaques détectées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par 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FRÉQUENCE — ÉTAPE 2  ·  LE CŒUR DU SUJET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Changement d'unité : détecter n'est pas perdre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95926"/>
                </a:solidFill>
                <a:latin typeface="Segoe UI"/>
              </a:rPr>
              <a:t>Première 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1F5F9"/>
                </a:solidFill>
                <a:latin typeface="Segoe UI"/>
              </a:rPr>
              <a:t>λ = 9 168 attaques/an   →   AAL 12,5 Md€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A8AA0"/>
                </a:solidFill>
                <a:latin typeface="Segoe UI"/>
              </a:rPr>
              <a:t>absurde pour une ETI de 1 200 personnes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4937760" cy="137160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011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Diagnostic — erreur de catégorie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37744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télémétrie → attaques DÉTECTÉES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base externe → incidents À PERTE</a:t>
            </a:r>
          </a:p>
        </p:txBody>
      </p:sp>
      <p:pic>
        <p:nvPicPr>
          <p:cNvPr id="12" name="Picture 11" descr="07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83280"/>
            <a:ext cx="7498079" cy="251658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321040" y="384962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3794760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λ_incident = λ_détecté × 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430682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4251960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p ≈ 1 détection sur 5 138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476402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4709160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ancré sur 1 310 organisations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522122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5166360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la base ancre le NIVEAU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567842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5623560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la télémétrie garde le MIX par 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SÉVÉRITÉ — LES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Pondérer par similarité, jamais filtrer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762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1F5F9"/>
                </a:solidFill>
                <a:latin typeface="Segoe UI"/>
              </a:rPr>
              <a:t>w  =  w_secteur  ×  w_taille  ×  exp( − d² / 2h² )        d = |maturité − 55|,  h =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1F5F9"/>
                </a:solidFill>
                <a:latin typeface="Segoe UI"/>
              </a:rPr>
              <a:t>1 598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587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incidents à perte exploitable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sur 1 600 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200400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BBF24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8587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sentinelles −1 exclues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jamais traitées comme 0 €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200400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D95926"/>
                </a:solidFill>
                <a:latin typeface="Segoe UI"/>
              </a:rPr>
              <a:t>112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8587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incidents si filtre EXACT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aucun type modélisable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999" y="3200400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38BDF8"/>
                </a:solidFill>
                <a:latin typeface="Segoe UI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3999" y="38587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n_eff de Kish minimal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sinon repli sur la poolée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709160"/>
            <a:ext cx="10637215" cy="9525"/>
          </a:xfrm>
          <a:prstGeom prst="rect">
            <a:avLst/>
          </a:prstGeom>
          <a:solidFill>
            <a:srgbClr val="1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08406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5029200"/>
            <a:ext cx="10314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encodage des secteurs réparé — « Ã‰nergie » → « Énergie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49554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5440680"/>
            <a:ext cx="10314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aucun incident jeté : les plus proches dominent, les autres pèsent peu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90702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5852160"/>
            <a:ext cx="10314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chaque ajustement publie son n_eff — la finesse a un coût, il est affiché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SÉVÉRITÉ — L'AJUSTEMENT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Une lognormale par type d'attaque</a:t>
            </a:r>
          </a:p>
        </p:txBody>
      </p:sp>
      <p:pic>
        <p:nvPicPr>
          <p:cNvPr id="5" name="Picture 4" descr="09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7589520" cy="33251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21945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8BDF8"/>
                </a:solidFill>
                <a:latin typeface="Segoe UI"/>
              </a:rPr>
              <a:t>supply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5603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1F5F9"/>
                </a:solidFill>
                <a:latin typeface="Segoe UI"/>
              </a:rPr>
              <a:t>μ = 12,119     σ = 2,582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154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183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81304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médiane — l'incident typique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1605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BBF24"/>
                </a:solidFill>
                <a:latin typeface="Segoe UI"/>
              </a:rPr>
              <a:t>5,1 M€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81888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moyenne — ce qui alimente l'AAL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1206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5926"/>
                </a:solidFill>
                <a:latin typeface="Segoe UI"/>
              </a:rPr>
              <a:t>la queue multiplie la moyenne par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Segoe UI"/>
              </a:rPr>
              <a:t>MLE pondéré sur les log-pertes — les pertes sont bornées à zéro et s'étalent sur quatre ordres de grandeur : c'est la forme naturelle.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SÉVÉRITÉ — LA PREUVE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Chaque ajustement est livré avec les preuves contre lui</a:t>
            </a:r>
          </a:p>
        </p:txBody>
      </p:sp>
      <p:pic>
        <p:nvPicPr>
          <p:cNvPr id="5" name="Picture 4" descr="10_q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6583680" cy="42980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0" y="234086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2286000"/>
            <a:ext cx="3639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Segoe UI"/>
              </a:rPr>
              <a:t>QQ-plot des log-pertes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779776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2724912"/>
            <a:ext cx="3639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Segoe UI"/>
              </a:rPr>
              <a:t>la diagonale = l'ajustement parfait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218688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3163824"/>
            <a:ext cx="3639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Segoe UI"/>
              </a:rPr>
              <a:t>KS pondéré 0,118 · seuil indicatif ≈ 0,19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657600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3602736"/>
            <a:ext cx="3639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Segoe UI"/>
              </a:rPr>
              <a:t>tient sur quatre ordres de grandeur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096512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4041648"/>
            <a:ext cx="3639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Segoe UI"/>
              </a:rPr>
              <a:t>extrêmes légèrement SOUS la courbe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4535424"/>
            <a:ext cx="41148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4480560"/>
            <a:ext cx="3639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Segoe UI"/>
              </a:rPr>
              <a:t>→ queue prudente sur ce 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937760"/>
            <a:ext cx="3749039" cy="123444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510235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95926"/>
                </a:solidFill>
                <a:latin typeface="Segoe UI"/>
              </a:rPr>
              <a:t>Contre-preuve publiée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413248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sur 5 ajustements sur 9, une queue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de Pareto décrit mieux les extrêmes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→ VaR 99 et TVaR 99 = bornes basses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SIMULATION MONTE CARLO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Composer fréquence et sévérité, pas les multiplier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2140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pour chaque année simulée :   tirage Poisson(λ_type) par type d'attaque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  →   prix de chaque incident dans la lognormale de son type   →   somme des pertes de l'année</a:t>
            </a:r>
          </a:p>
        </p:txBody>
      </p:sp>
      <p:pic>
        <p:nvPicPr>
          <p:cNvPr id="7" name="Picture 6" descr="12b_annual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46120"/>
            <a:ext cx="7315200" cy="30394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34290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100 000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08736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années simulées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3434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38BDF8"/>
                </a:solidFill>
                <a:latin typeface="Segoe UI"/>
              </a:rPr>
              <a:t>seed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500176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reproductibilité bit à bit —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la graine est affichée dans l'interface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544068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5596128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Garde-fou : perte unitaire plafonnée à 23,5 M€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(0,9 % des tirages) — sinon σ = 2,6 tire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des années au-delà du plausible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Ce que coûte une année</a:t>
            </a:r>
          </a:p>
        </p:txBody>
      </p:sp>
      <p:pic>
        <p:nvPicPr>
          <p:cNvPr id="5" name="Picture 4" descr="12_excee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7406640" cy="33519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78308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38BDF8"/>
                </a:solidFill>
                <a:latin typeface="Segoe UI"/>
              </a:rPr>
              <a:t>274 k€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44144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AAL — perte annuelle moyenne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0 €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44728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année médiane — 73,7 % des années sans incident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79476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816 k€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45312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VaR 95 — une année sur vingt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80060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6,7 M€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4589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VaR 99 — une année sur 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8978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7A8AA0"/>
                </a:solidFill>
                <a:latin typeface="Segoe UI"/>
              </a:rPr>
              <a:t>budget   ·   appétit au risque   ·   question de survie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0644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BBF24"/>
                </a:solidFill>
                <a:latin typeface="Segoe UI"/>
              </a:rPr>
              <a:t>4,8 M€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9161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TVaR 95 — 5 % pires années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580644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BBF24"/>
                </a:solidFill>
                <a:latin typeface="Segoe UI"/>
              </a:rPr>
              <a:t>15,1 M€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599" y="59161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TVaR 99 — 1 % pires années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LIMITES ASSUMÉES &amp; SUITES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Ce que je changerais en premier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1F5F9"/>
                </a:solidFill>
                <a:latin typeface="Segoe UI"/>
              </a:rPr>
              <a:t>La télémétrie ne pilote plus le niveau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8AA0"/>
                </a:solidFill>
                <a:latin typeface="Segoe UI"/>
              </a:rPr>
              <a:t>le taux d'incidents est entièrement ancré sur les pairs ; sept mois d'observation propre pèsent zéro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2585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38BDF8"/>
                </a:solidFill>
                <a:latin typeface="Segoe UI"/>
              </a:rPr>
              <a:t>→ mélange de crédibilité Gamma-Poisson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90088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2724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1F5F9"/>
                </a:solidFill>
                <a:latin typeface="Segoe UI"/>
              </a:rPr>
              <a:t>Fenêtre de sept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47288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8AA0"/>
                </a:solidFill>
                <a:latin typeface="Segoe UI"/>
              </a:rPr>
              <a:t>aucune saisonnalité annuelle vérifiable — un pic Black Friday resterait invisible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28269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38BDF8"/>
                </a:solidFill>
                <a:latin typeface="Segoe UI"/>
              </a:rPr>
              <a:t>→ fenêtre glissante, ingestion incrémentale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14216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5137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1F5F9"/>
                </a:solidFill>
                <a:latin typeface="Segoe UI"/>
              </a:rPr>
              <a:t>Queue lognormale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71416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8AA0"/>
                </a:solidFill>
                <a:latin typeface="Segoe UI"/>
              </a:rPr>
              <a:t>Pareto décrit mieux les extrêmes sur 5 ajustements sur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430682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38BDF8"/>
                </a:solidFill>
                <a:latin typeface="Segoe UI"/>
              </a:rPr>
              <a:t>→ GPD par dépassement de seuil, à comparer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38344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1B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1755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1F5F9"/>
                </a:solidFill>
                <a:latin typeface="Segoe UI"/>
              </a:rPr>
              <a:t>Types d'attaque indépendants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495544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8AA0"/>
                </a:solidFill>
                <a:latin typeface="Segoe UI"/>
              </a:rPr>
              <a:t>un phishing amène un vol d'identifiants, qui amène un rançongiciel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533095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38BDF8"/>
                </a:solidFill>
                <a:latin typeface="Segoe UI"/>
              </a:rPr>
              <a:t>→ copule sur les fréquences par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Détail et arbitrages : next_steps.md · page /roadmap de l'interface — 17 chantiers, ce qui existe / ce qui change / ce que ça apporte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CE QUE VOUS AUDITEZ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1F5F9"/>
                </a:solidFill>
                <a:latin typeface="Segoe UI"/>
              </a:rPr>
              <a:t>Chaque chiffre a un chemin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075688"/>
            <a:ext cx="118872" cy="11887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data/*.csv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002536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8AA0"/>
                </a:solidFill>
                <a:latin typeface="Segoe UI"/>
              </a:rPr>
              <a:t>4 fichiers, lecture seule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42616"/>
            <a:ext cx="118872" cy="118872"/>
          </a:xfrm>
          <a:prstGeom prst="ellipse">
            <a:avLst/>
          </a:prstGeom>
          <a:solidFill>
            <a:srgbClr val="7A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328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NormalizationReport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56946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8AA0"/>
                </a:solidFill>
                <a:latin typeface="Segoe UI"/>
              </a:rPr>
              <a:t>chaque ligne rendue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209544"/>
            <a:ext cx="118872" cy="118872"/>
          </a:xfrm>
          <a:prstGeom prst="ellipse">
            <a:avLst/>
          </a:prstGeom>
          <a:solidFill>
            <a:srgbClr val="7A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9981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FrequencyEstimate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13639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8AA0"/>
                </a:solidFill>
                <a:latin typeface="Segoe UI"/>
              </a:rPr>
              <a:t>épisodes → λ → calibration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776472"/>
            <a:ext cx="118872" cy="118872"/>
          </a:xfrm>
          <a:prstGeom prst="ellipse">
            <a:avLst/>
          </a:prstGeom>
          <a:solidFill>
            <a:srgbClr val="7A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66674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SeverityModel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70332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8AA0"/>
                </a:solidFill>
                <a:latin typeface="Segoe UI"/>
              </a:rPr>
              <a:t>nettoyage → poids → ajustement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343400"/>
            <a:ext cx="118872" cy="118872"/>
          </a:xfrm>
          <a:prstGeom prst="ellipse">
            <a:avLst/>
          </a:prstGeom>
          <a:solidFill>
            <a:srgbClr val="7A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3367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SimulationResult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27024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8AA0"/>
                </a:solidFill>
                <a:latin typeface="Segoe UI"/>
              </a:rPr>
              <a:t>λ × sévérité → métriques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910328"/>
            <a:ext cx="118872" cy="11887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seed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837176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A8AA0"/>
                </a:solidFill>
                <a:latin typeface="Segoe UI"/>
              </a:rPr>
              <a:t>rejouable à l'euro près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965960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0A112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17627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Une commande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542032"/>
            <a:ext cx="3474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1F5F9"/>
                </a:solidFill>
                <a:latin typeface="Consolas"/>
              </a:rPr>
              <a:t>python -m risk_engine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1F5F9"/>
                </a:solidFill>
                <a:latin typeface="Consolas"/>
              </a:rPr>
              <a:t>  --data-dir data/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1F5F9"/>
                </a:solidFill>
                <a:latin typeface="Consolas"/>
              </a:rPr>
              <a:t>  --out results.json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1F5F9"/>
                </a:solidFill>
                <a:latin typeface="Segoe UI"/>
              </a:rPr>
              <a:t>« Vous pouvez rejouer tout ce que je viens de dire. 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Segoe UI"/>
              </a:rPr>
              <a:t>La trace imprimée par la CLI est la même que celle servie par l'API et affichée par l'interface — il n'y a qu'une version de chaque chiffre.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